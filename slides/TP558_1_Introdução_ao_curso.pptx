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95" r:id="rId3"/>
    <p:sldId id="423" r:id="rId4"/>
    <p:sldId id="422" r:id="rId5"/>
    <p:sldId id="439" r:id="rId6"/>
    <p:sldId id="425" r:id="rId7"/>
    <p:sldId id="398" r:id="rId8"/>
    <p:sldId id="424" r:id="rId9"/>
    <p:sldId id="453" r:id="rId10"/>
    <p:sldId id="263" r:id="rId11"/>
    <p:sldId id="298" r:id="rId12"/>
    <p:sldId id="293" r:id="rId13"/>
    <p:sldId id="306" r:id="rId14"/>
    <p:sldId id="440" r:id="rId15"/>
    <p:sldId id="441" r:id="rId16"/>
    <p:sldId id="442" r:id="rId17"/>
    <p:sldId id="443" r:id="rId18"/>
    <p:sldId id="444" r:id="rId19"/>
    <p:sldId id="445" r:id="rId20"/>
    <p:sldId id="446" r:id="rId21"/>
    <p:sldId id="447" r:id="rId22"/>
    <p:sldId id="448" r:id="rId23"/>
    <p:sldId id="449" r:id="rId24"/>
    <p:sldId id="450" r:id="rId25"/>
    <p:sldId id="451" r:id="rId26"/>
    <p:sldId id="452"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1867" autoAdjust="0"/>
  </p:normalViewPr>
  <p:slideViewPr>
    <p:cSldViewPr snapToGrid="0">
      <p:cViewPr varScale="1">
        <p:scale>
          <a:sx n="90" d="100"/>
          <a:sy n="90" d="100"/>
        </p:scale>
        <p:origin x="1614"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928934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são modelos computacionais inspirados no funcionamento do cérebro biológico. Elas processam informações usando </a:t>
            </a:r>
            <a:r>
              <a:rPr lang="pt-BR" sz="1200" b="1" i="0" kern="1200" dirty="0">
                <a:solidFill>
                  <a:schemeClr val="tx1"/>
                </a:solidFill>
                <a:effectLst/>
                <a:latin typeface="+mn-lt"/>
                <a:ea typeface="+mn-ea"/>
                <a:cs typeface="+mn-cs"/>
              </a:rPr>
              <a:t>pulsos discretos no tempo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spikes</a:t>
            </a:r>
            <a:r>
              <a:rPr lang="pt-BR" sz="1200" b="0" i="0" kern="1200" dirty="0">
                <a:solidFill>
                  <a:schemeClr val="tx1"/>
                </a:solidFill>
                <a:effectLst/>
                <a:latin typeface="+mn-lt"/>
                <a:ea typeface="+mn-ea"/>
                <a:cs typeface="+mn-cs"/>
              </a:rPr>
              <a:t>), imitando a comunicação entre neurônios reais. Sua principal utilidade está em cenários que exigem </a:t>
            </a:r>
            <a:r>
              <a:rPr lang="pt-BR" sz="1200" b="1" i="0" kern="1200" dirty="0">
                <a:solidFill>
                  <a:schemeClr val="tx1"/>
                </a:solidFill>
                <a:effectLst/>
                <a:latin typeface="+mn-lt"/>
                <a:ea typeface="+mn-ea"/>
                <a:cs typeface="+mn-cs"/>
              </a:rPr>
              <a:t>eficiência energética extrema</a:t>
            </a:r>
            <a:r>
              <a:rPr lang="pt-BR" sz="1200" b="0" i="0" kern="1200" dirty="0">
                <a:solidFill>
                  <a:schemeClr val="tx1"/>
                </a:solidFill>
                <a:effectLst/>
                <a:latin typeface="+mn-lt"/>
                <a:ea typeface="+mn-ea"/>
                <a:cs typeface="+mn-cs"/>
              </a:rPr>
              <a:t>, processamento de dados temporais e integração com hardware </a:t>
            </a:r>
            <a:r>
              <a:rPr lang="pt-BR" sz="1200" b="0" i="0" kern="1200" dirty="0" err="1">
                <a:solidFill>
                  <a:schemeClr val="tx1"/>
                </a:solidFill>
                <a:effectLst/>
                <a:latin typeface="+mn-lt"/>
                <a:ea typeface="+mn-ea"/>
                <a:cs typeface="+mn-cs"/>
              </a:rPr>
              <a:t>neuromórfico</a:t>
            </a:r>
            <a:r>
              <a:rPr lang="pt-BR" sz="1200" b="0" i="0" kern="1200" dirty="0">
                <a:solidFill>
                  <a:schemeClr val="tx1"/>
                </a:solidFill>
                <a:effectLst/>
                <a:latin typeface="+mn-lt"/>
                <a:ea typeface="+mn-ea"/>
                <a:cs typeface="+mn-cs"/>
              </a:rPr>
              <a:t>.</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10767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Gradient Centralization can both speedup training process and improve the final generalization performance of DNNs.</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514141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ocs.google.com/spreadsheets/d/19mypFcuvkspJEsLo58qEa70MwIDpH1KOYqf0OcO_vLI/edit?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tinyurl.com/tp558-books" TargetMode="External"/><Relationship Id="rId4" Type="http://schemas.openxmlformats.org/officeDocument/2006/relationships/hyperlink" Target="https://pytorch.org/exampl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snntorch.readthedocs.io/en/latest/tutorials/index.html" TargetMode="External"/><Relationship Id="rId3" Type="http://schemas.openxmlformats.org/officeDocument/2006/relationships/hyperlink" Target="https://arxiv.org/abs/2101.11174" TargetMode="External"/><Relationship Id="rId7" Type="http://schemas.openxmlformats.org/officeDocument/2006/relationships/hyperlink" Target="https://guillaume-chevalier.com/spiking-neural-network-snn-with-pytorch-where-backpropagation-engenders-stdp-hebbian-learning/"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analyticsindiamag.com/a-tutorial-on-spiking-neural-networks-for-beginners/" TargetMode="External"/><Relationship Id="rId5" Type="http://schemas.openxmlformats.org/officeDocument/2006/relationships/hyperlink" Target="https://arxiv.org/abs/2109.12894" TargetMode="External"/><Relationship Id="rId4" Type="http://schemas.openxmlformats.org/officeDocument/2006/relationships/hyperlink" Target="https://paperswithcode.com/paper/graph-neural-network-for-traffic-forecasting"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velo-code.github.io/" TargetMode="External"/><Relationship Id="rId3" Type="http://schemas.openxmlformats.org/officeDocument/2006/relationships/hyperlink" Target="https://arxiv.org/abs/1503.02531" TargetMode="External"/><Relationship Id="rId7" Type="http://schemas.openxmlformats.org/officeDocument/2006/relationships/hyperlink" Target="https://arxiv.org/pdf/2211.09760"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keras.io/examples/vision/gradient_centralization/" TargetMode="External"/><Relationship Id="rId5" Type="http://schemas.openxmlformats.org/officeDocument/2006/relationships/hyperlink" Target="https://arxiv.org/abs/2004.01461" TargetMode="External"/><Relationship Id="rId4" Type="http://schemas.openxmlformats.org/officeDocument/2006/relationships/hyperlink" Target="https://keras.io/examples/vision/knowledge_distill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br>
              <a:rPr lang="pt-BR" dirty="0"/>
            </a:br>
            <a:r>
              <a:rPr lang="pt-BR" b="1" i="1" dirty="0"/>
              <a:t>Introdução ao curso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5954F27A-CDF9-6E72-139C-41301C4C48BE}"/>
              </a:ext>
            </a:extLst>
          </p:cNvPr>
          <p:cNvSpPr>
            <a:spLocks noGrp="1"/>
          </p:cNvSpPr>
          <p:nvPr>
            <p:ph idx="1"/>
          </p:nvPr>
        </p:nvSpPr>
        <p:spPr>
          <a:xfrm>
            <a:off x="838199" y="1825624"/>
            <a:ext cx="11200037" cy="5032375"/>
          </a:xfrm>
        </p:spPr>
        <p:txBody>
          <a:bodyPr>
            <a:normAutofit/>
          </a:bodyPr>
          <a:lstStyle/>
          <a:p>
            <a:r>
              <a:rPr lang="pt-BR" b="0" i="0" u="none" strike="noStrike" dirty="0">
                <a:solidFill>
                  <a:srgbClr val="000000"/>
                </a:solidFill>
                <a:effectLst/>
              </a:rPr>
              <a:t>Curso que oferecerá uma </a:t>
            </a:r>
            <a:r>
              <a:rPr lang="pt-BR" b="1" i="0" u="none" strike="noStrike" dirty="0">
                <a:solidFill>
                  <a:srgbClr val="000000"/>
                </a:solidFill>
                <a:effectLst/>
              </a:rPr>
              <a:t>visão sobre diferentes algoritmos de aprendizado de máquina</a:t>
            </a:r>
            <a:r>
              <a:rPr lang="pt-BR" b="0" i="0" u="none" strike="noStrike" dirty="0">
                <a:solidFill>
                  <a:srgbClr val="000000"/>
                </a:solidFill>
                <a:effectLst/>
              </a:rPr>
              <a:t> (i.e., </a:t>
            </a:r>
            <a:r>
              <a:rPr lang="pt-BR" i="1" dirty="0">
                <a:solidFill>
                  <a:srgbClr val="000000"/>
                </a:solidFill>
              </a:rPr>
              <a:t>m</a:t>
            </a:r>
            <a:r>
              <a:rPr lang="pt-BR" b="0" i="1" u="none" strike="noStrike" dirty="0">
                <a:solidFill>
                  <a:srgbClr val="000000"/>
                </a:solidFill>
                <a:effectLst/>
              </a:rPr>
              <a:t>achin</a:t>
            </a:r>
            <a:r>
              <a:rPr lang="pt-BR" i="1" dirty="0">
                <a:solidFill>
                  <a:srgbClr val="000000"/>
                </a:solidFill>
              </a:rPr>
              <a:t>e l</a:t>
            </a:r>
            <a:r>
              <a:rPr lang="pt-BR" b="0" i="1" u="none" strike="noStrike" dirty="0">
                <a:solidFill>
                  <a:srgbClr val="000000"/>
                </a:solidFill>
                <a:effectLst/>
              </a:rPr>
              <a:t>earning</a:t>
            </a:r>
            <a:r>
              <a:rPr lang="pt-BR" b="0" u="none" strike="noStrike" dirty="0">
                <a:solidFill>
                  <a:srgbClr val="000000"/>
                </a:solidFill>
                <a:effectLst/>
              </a:rPr>
              <a:t> - ML</a:t>
            </a:r>
            <a:r>
              <a:rPr lang="pt-BR" b="0" i="0" u="none" strike="noStrike" dirty="0">
                <a:solidFill>
                  <a:srgbClr val="000000"/>
                </a:solidFill>
                <a:effectLst/>
              </a:rPr>
              <a:t>) e suas </a:t>
            </a:r>
            <a:r>
              <a:rPr lang="pt-BR" b="1" i="0" u="none" strike="noStrike" dirty="0">
                <a:solidFill>
                  <a:srgbClr val="000000"/>
                </a:solidFill>
                <a:effectLst/>
              </a:rPr>
              <a:t>aplicações em diferentes áreas </a:t>
            </a:r>
            <a:r>
              <a:rPr lang="pt-BR" b="0" i="0" u="none" strike="noStrike" dirty="0">
                <a:solidFill>
                  <a:srgbClr val="000000"/>
                </a:solidFill>
                <a:effectLst/>
              </a:rPr>
              <a:t>do conhecimento.</a:t>
            </a:r>
          </a:p>
          <a:p>
            <a:r>
              <a:rPr lang="pt-BR" dirty="0"/>
              <a:t>Cobriremos algoritmos como </a:t>
            </a:r>
          </a:p>
          <a:p>
            <a:pPr lvl="1">
              <a:buFont typeface="Wingdings" panose="05000000000000000000" pitchFamily="2" charset="2"/>
              <a:buChar char="§"/>
            </a:pPr>
            <a:r>
              <a:rPr lang="pt-BR" dirty="0"/>
              <a:t>Redes neurais profundas,</a:t>
            </a:r>
          </a:p>
          <a:p>
            <a:pPr lvl="1">
              <a:buFont typeface="Wingdings" panose="05000000000000000000" pitchFamily="2" charset="2"/>
              <a:buChar char="§"/>
            </a:pPr>
            <a:r>
              <a:rPr lang="pt-BR" dirty="0"/>
              <a:t>Aprendizado por reforço (profundo),</a:t>
            </a:r>
          </a:p>
          <a:p>
            <a:pPr lvl="1">
              <a:buFont typeface="Wingdings" panose="05000000000000000000" pitchFamily="2" charset="2"/>
              <a:buChar char="§"/>
            </a:pPr>
            <a:r>
              <a:rPr lang="pt-BR" dirty="0"/>
              <a:t>Detectores de objetos,</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Bibliotecas auxiliares (otimização, </a:t>
            </a:r>
            <a:r>
              <a:rPr lang="pt-BR" dirty="0" err="1"/>
              <a:t>AutoML</a:t>
            </a:r>
            <a:r>
              <a:rPr lang="pt-BR" dirty="0"/>
              <a:t>, data augmentation, etc.)</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B4C24F-F8C2-513B-ABC6-F41F972D298C}"/>
              </a:ext>
            </a:extLst>
          </p:cNvPr>
          <p:cNvSpPr>
            <a:spLocks noGrp="1"/>
          </p:cNvSpPr>
          <p:nvPr>
            <p:ph type="title"/>
          </p:nvPr>
        </p:nvSpPr>
        <p:spPr/>
        <p:txBody>
          <a:bodyPr/>
          <a:lstStyle/>
          <a:p>
            <a:r>
              <a:rPr lang="pt-BR" dirty="0"/>
              <a:t>Dinâmica do curso</a:t>
            </a:r>
          </a:p>
        </p:txBody>
      </p:sp>
      <p:sp>
        <p:nvSpPr>
          <p:cNvPr id="3" name="Espaço Reservado para Conteúdo 2">
            <a:extLst>
              <a:ext uri="{FF2B5EF4-FFF2-40B4-BE49-F238E27FC236}">
                <a16:creationId xmlns:a16="http://schemas.microsoft.com/office/drawing/2014/main" id="{39EC605B-82E1-C664-EB15-E7D9A6DF0D17}"/>
              </a:ext>
            </a:extLst>
          </p:cNvPr>
          <p:cNvSpPr>
            <a:spLocks noGrp="1"/>
          </p:cNvSpPr>
          <p:nvPr>
            <p:ph idx="1"/>
          </p:nvPr>
        </p:nvSpPr>
        <p:spPr>
          <a:xfrm>
            <a:off x="838199" y="1825624"/>
            <a:ext cx="11107615" cy="5032375"/>
          </a:xfrm>
        </p:spPr>
        <p:txBody>
          <a:bodyPr/>
          <a:lstStyle/>
          <a:p>
            <a:r>
              <a:rPr lang="pt-BR" b="0" i="0" u="none" strike="noStrike" dirty="0">
                <a:solidFill>
                  <a:srgbClr val="000000"/>
                </a:solidFill>
                <a:effectLst/>
              </a:rPr>
              <a:t>O curso será </a:t>
            </a:r>
            <a:r>
              <a:rPr lang="pt-BR" b="1" i="1" u="none" strike="noStrike" dirty="0">
                <a:solidFill>
                  <a:srgbClr val="00B050"/>
                </a:solidFill>
                <a:effectLst/>
              </a:rPr>
              <a:t>dividido em vários seminários </a:t>
            </a:r>
            <a:r>
              <a:rPr lang="pt-BR" b="1" i="1" u="none" strike="noStrike" dirty="0">
                <a:solidFill>
                  <a:schemeClr val="accent2"/>
                </a:solidFill>
                <a:effectLst/>
              </a:rPr>
              <a:t>preparados e apresentados pelos alunos</a:t>
            </a:r>
            <a:r>
              <a:rPr lang="pt-BR" b="0" i="0" u="none" strike="noStrike" dirty="0">
                <a:solidFill>
                  <a:srgbClr val="000000"/>
                </a:solidFill>
                <a:effectLst/>
              </a:rPr>
              <a:t>, cada um </a:t>
            </a:r>
            <a:r>
              <a:rPr lang="pt-BR" dirty="0">
                <a:solidFill>
                  <a:srgbClr val="000000"/>
                </a:solidFill>
              </a:rPr>
              <a:t>apresentando um trabalho (e.g., um artigo) diferente</a:t>
            </a:r>
            <a:r>
              <a:rPr lang="pt-BR" b="0" i="0" u="none" strike="noStrike" dirty="0">
                <a:solidFill>
                  <a:srgbClr val="000000"/>
                </a:solidFill>
                <a:effectLst/>
              </a:rPr>
              <a:t>.</a:t>
            </a:r>
          </a:p>
          <a:p>
            <a:r>
              <a:rPr lang="pt-BR" dirty="0">
                <a:solidFill>
                  <a:srgbClr val="000000"/>
                </a:solidFill>
              </a:rPr>
              <a:t>Ao final de cada seminário, os </a:t>
            </a:r>
            <a:r>
              <a:rPr lang="pt-BR" b="1" i="1" dirty="0">
                <a:solidFill>
                  <a:srgbClr val="00B050"/>
                </a:solidFill>
              </a:rPr>
              <a:t>demais alunos deverão responder a um </a:t>
            </a:r>
            <a:r>
              <a:rPr lang="pt-BR" b="1" i="1" dirty="0">
                <a:solidFill>
                  <a:schemeClr val="accent2"/>
                </a:solidFill>
              </a:rPr>
              <a:t>quiz</a:t>
            </a:r>
            <a:r>
              <a:rPr lang="pt-BR" dirty="0">
                <a:solidFill>
                  <a:srgbClr val="000000"/>
                </a:solidFill>
              </a:rPr>
              <a:t>, preparado pelo apresentador, sobre o artigo apresentado.</a:t>
            </a:r>
          </a:p>
          <a:p>
            <a:r>
              <a:rPr lang="pt-BR" dirty="0">
                <a:solidFill>
                  <a:srgbClr val="000000"/>
                </a:solidFill>
              </a:rPr>
              <a:t>Ao final do curso, os </a:t>
            </a:r>
            <a:r>
              <a:rPr lang="pt-BR" b="1" i="1" dirty="0">
                <a:solidFill>
                  <a:srgbClr val="00B050"/>
                </a:solidFill>
              </a:rPr>
              <a:t>alunos deverão apresentar um </a:t>
            </a:r>
            <a:r>
              <a:rPr lang="pt-BR" b="1" i="1" dirty="0">
                <a:solidFill>
                  <a:schemeClr val="accent2"/>
                </a:solidFill>
              </a:rPr>
              <a:t>projeto final</a:t>
            </a:r>
            <a:r>
              <a:rPr lang="pt-BR" dirty="0">
                <a:solidFill>
                  <a:srgbClr val="000000"/>
                </a:solidFill>
              </a:rPr>
              <a:t>, incluindo um </a:t>
            </a:r>
            <a:r>
              <a:rPr lang="pt-BR" b="1" i="1" dirty="0">
                <a:solidFill>
                  <a:srgbClr val="00B050"/>
                </a:solidFill>
              </a:rPr>
              <a:t>relatório em formato de </a:t>
            </a:r>
            <a:r>
              <a:rPr lang="pt-BR" b="1" i="1" dirty="0">
                <a:solidFill>
                  <a:schemeClr val="accent2"/>
                </a:solidFill>
              </a:rPr>
              <a:t>artigo científico</a:t>
            </a:r>
            <a:r>
              <a:rPr lang="pt-BR" dirty="0">
                <a:solidFill>
                  <a:srgbClr val="000000"/>
                </a:solidFill>
              </a:rPr>
              <a:t>, envolvendo a aplicação de um algoritmo de ML a um problema de sua escolha (</a:t>
            </a:r>
            <a:r>
              <a:rPr lang="pt-BR" b="1" i="1" dirty="0">
                <a:solidFill>
                  <a:srgbClr val="00B050"/>
                </a:solidFill>
              </a:rPr>
              <a:t>de preferência, alinhado à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Objetivos do curso</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0" i="0" u="none" strike="noStrike" dirty="0">
                <a:solidFill>
                  <a:srgbClr val="000000"/>
                </a:solidFill>
                <a:effectLst/>
              </a:rPr>
              <a:t>Tornar os alunos capazes de </a:t>
            </a:r>
            <a:r>
              <a:rPr lang="pt-BR" b="1" i="1" u="none" strike="noStrike" dirty="0">
                <a:solidFill>
                  <a:schemeClr val="accent2"/>
                </a:solidFill>
                <a:effectLst/>
              </a:rPr>
              <a:t>entender e aplicar na prática </a:t>
            </a:r>
            <a:r>
              <a:rPr lang="pt-BR" b="0" i="0" u="none" strike="noStrike" dirty="0">
                <a:solidFill>
                  <a:srgbClr val="000000"/>
                </a:solidFill>
                <a:effectLst/>
              </a:rPr>
              <a:t>os diferentes algoritmos estudados.</a:t>
            </a:r>
          </a:p>
          <a:p>
            <a:pPr algn="just">
              <a:spcBef>
                <a:spcPts val="0"/>
              </a:spcBef>
            </a:pPr>
            <a:r>
              <a:rPr lang="pt-BR" dirty="0">
                <a:solidFill>
                  <a:srgbClr val="000000"/>
                </a:solidFill>
              </a:rPr>
              <a:t>Ambientar os alunos com a </a:t>
            </a:r>
            <a:r>
              <a:rPr lang="pt-BR" b="1" i="1" dirty="0">
                <a:solidFill>
                  <a:schemeClr val="accent2"/>
                </a:solidFill>
              </a:rPr>
              <a:t>leitura de artigos científicos</a:t>
            </a:r>
            <a:r>
              <a:rPr lang="pt-BR" dirty="0">
                <a:solidFill>
                  <a:srgbClr val="000000"/>
                </a:solidFill>
              </a:rPr>
              <a:t>.</a:t>
            </a:r>
            <a:endParaRPr lang="pt-BR" b="0" i="0" u="none" strike="noStrike" dirty="0">
              <a:solidFill>
                <a:srgbClr val="000000"/>
              </a:solidFill>
              <a:effectLst/>
            </a:endParaRPr>
          </a:p>
          <a:p>
            <a:pPr algn="just">
              <a:spcBef>
                <a:spcPts val="0"/>
              </a:spcBef>
            </a:pPr>
            <a:r>
              <a:rPr lang="pt-BR" dirty="0">
                <a:solidFill>
                  <a:srgbClr val="000000"/>
                </a:solidFill>
              </a:rPr>
              <a:t>Preparar os alunos para </a:t>
            </a:r>
            <a:r>
              <a:rPr lang="pt-BR" b="1" i="1" dirty="0">
                <a:solidFill>
                  <a:schemeClr val="accent2"/>
                </a:solidFill>
              </a:rPr>
              <a:t>apresentação de seus trabalhos </a:t>
            </a:r>
            <a:r>
              <a:rPr lang="pt-BR" dirty="0">
                <a:solidFill>
                  <a:srgbClr val="000000"/>
                </a:solidFill>
              </a:rPr>
              <a:t>em conferencias e para suas defesas.</a:t>
            </a:r>
            <a:endParaRPr lang="pt-BR" b="0" i="0" u="none" strike="noStrike" dirty="0">
              <a:solidFill>
                <a:srgbClr val="000000"/>
              </a:solidFill>
              <a:effectLst/>
            </a:endParaRP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Pré-requisitos</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r>
              <a:rPr lang="pt-BR" dirty="0"/>
              <a:t>Disciplinas: TP555 ou TP557;</a:t>
            </a:r>
          </a:p>
          <a:p>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 testes estatísticos);</a:t>
            </a:r>
          </a:p>
          <a:p>
            <a:r>
              <a:rPr lang="pt-BR" dirty="0"/>
              <a:t>Conhecimento intermediário/avançado de programação em Python.</a:t>
            </a:r>
          </a:p>
          <a:p>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1906369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E490C-8C95-5D8F-8A93-456C393F644A}"/>
              </a:ext>
            </a:extLst>
          </p:cNvPr>
          <p:cNvSpPr>
            <a:spLocks noGrp="1"/>
          </p:cNvSpPr>
          <p:nvPr>
            <p:ph type="title"/>
          </p:nvPr>
        </p:nvSpPr>
        <p:spPr/>
        <p:txBody>
          <a:bodyPr/>
          <a:lstStyle/>
          <a:p>
            <a:r>
              <a:rPr lang="pt-BR" dirty="0"/>
              <a:t>Repositório</a:t>
            </a:r>
          </a:p>
        </p:txBody>
      </p:sp>
      <p:sp>
        <p:nvSpPr>
          <p:cNvPr id="3" name="Espaço Reservado para Conteúdo 2">
            <a:extLst>
              <a:ext uri="{FF2B5EF4-FFF2-40B4-BE49-F238E27FC236}">
                <a16:creationId xmlns:a16="http://schemas.microsoft.com/office/drawing/2014/main"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dirty="0"/>
              <a:t>Criem um repositório </a:t>
            </a:r>
            <a:r>
              <a:rPr lang="pt-BR" b="1" i="1" dirty="0"/>
              <a:t>público</a:t>
            </a:r>
            <a:r>
              <a:rPr lang="pt-BR" dirty="0"/>
              <a:t> no </a:t>
            </a:r>
            <a:r>
              <a:rPr lang="pt-BR" i="1" dirty="0" err="1"/>
              <a:t>github</a:t>
            </a:r>
            <a:r>
              <a:rPr lang="pt-BR" dirty="0"/>
              <a:t> para armazenar o material gerado durante todo o curso, e.g., materiais dos seminários, proposta de projeto, projeto final, etc.</a:t>
            </a:r>
          </a:p>
          <a:p>
            <a:pPr algn="just">
              <a:spcBef>
                <a:spcPts val="0"/>
              </a:spcBef>
            </a:pPr>
            <a:r>
              <a:rPr lang="pt-BR" dirty="0"/>
              <a:t>Criem </a:t>
            </a:r>
            <a:r>
              <a:rPr lang="pt-BR" b="1" i="1" dirty="0">
                <a:solidFill>
                  <a:srgbClr val="7030A0"/>
                </a:solidFill>
              </a:rPr>
              <a:t>pastas </a:t>
            </a:r>
            <a:r>
              <a:rPr lang="pt-BR" b="1" i="1" dirty="0">
                <a:solidFill>
                  <a:schemeClr val="accent2"/>
                </a:solidFill>
              </a:rPr>
              <a:t>distintas</a:t>
            </a:r>
            <a:r>
              <a:rPr lang="pt-BR" dirty="0"/>
              <a:t> para </a:t>
            </a:r>
          </a:p>
          <a:p>
            <a:pPr lvl="1" algn="just">
              <a:spcBef>
                <a:spcPts val="0"/>
              </a:spcBef>
              <a:buFont typeface="Wingdings" panose="05000000000000000000" pitchFamily="2" charset="2"/>
              <a:buChar char="§"/>
            </a:pPr>
            <a:r>
              <a:rPr lang="pt-BR" dirty="0"/>
              <a:t>cada seminário, </a:t>
            </a:r>
          </a:p>
          <a:p>
            <a:pPr lvl="1" algn="just">
              <a:spcBef>
                <a:spcPts val="0"/>
              </a:spcBef>
              <a:buFont typeface="Wingdings" panose="05000000000000000000" pitchFamily="2" charset="2"/>
              <a:buChar char="§"/>
            </a:pPr>
            <a:r>
              <a:rPr lang="pt-BR" dirty="0"/>
              <a:t>para o projeto final </a:t>
            </a:r>
          </a:p>
          <a:p>
            <a:pPr lvl="1" algn="just">
              <a:spcBef>
                <a:spcPts val="0"/>
              </a:spcBef>
              <a:buFont typeface="Wingdings" panose="05000000000000000000" pitchFamily="2" charset="2"/>
              <a:buChar char="§"/>
            </a:pPr>
            <a:r>
              <a:rPr lang="pt-BR" dirty="0"/>
              <a:t>e qualquer outro material que seja gerado durante o curso.</a:t>
            </a:r>
          </a:p>
          <a:p>
            <a:pPr algn="just">
              <a:spcBef>
                <a:spcPts val="0"/>
              </a:spcBef>
            </a:pPr>
            <a:r>
              <a:rPr lang="pt-BR" b="1" dirty="0">
                <a:solidFill>
                  <a:srgbClr val="FF0000"/>
                </a:solidFill>
              </a:rPr>
              <a:t>Enviem o endereço do repositório para o professor via </a:t>
            </a:r>
            <a:r>
              <a:rPr lang="pt-BR" b="1" dirty="0" err="1">
                <a:solidFill>
                  <a:srgbClr val="FF0000"/>
                </a:solidFill>
              </a:rPr>
              <a:t>email</a:t>
            </a:r>
            <a:r>
              <a:rPr lang="pt-BR" b="1" dirty="0">
                <a:solidFill>
                  <a:srgbClr val="FF0000"/>
                </a:solidFill>
              </a:rPr>
              <a:t>.</a:t>
            </a:r>
          </a:p>
        </p:txBody>
      </p:sp>
    </p:spTree>
    <p:extLst>
      <p:ext uri="{BB962C8B-B14F-4D97-AF65-F5344CB8AC3E}">
        <p14:creationId xmlns:p14="http://schemas.microsoft.com/office/powerpoint/2010/main" val="238020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B200E8-E489-1374-DAE1-A01E9DFC93EA}"/>
              </a:ext>
            </a:extLst>
          </p:cNvPr>
          <p:cNvSpPr>
            <a:spLocks noGrp="1"/>
          </p:cNvSpPr>
          <p:nvPr>
            <p:ph type="title"/>
          </p:nvPr>
        </p:nvSpPr>
        <p:spPr/>
        <p:txBody>
          <a:bodyPr/>
          <a:lstStyle/>
          <a:p>
            <a:r>
              <a:rPr lang="pt-BR" dirty="0"/>
              <a:t>Avaliação</a:t>
            </a:r>
          </a:p>
        </p:txBody>
      </p:sp>
      <p:sp>
        <p:nvSpPr>
          <p:cNvPr id="3" name="Espaço Reservado para Conteúdo 2">
            <a:extLst>
              <a:ext uri="{FF2B5EF4-FFF2-40B4-BE49-F238E27FC236}">
                <a16:creationId xmlns:a16="http://schemas.microsoft.com/office/drawing/2014/main" id="{AC84DA0A-C3B3-CCCB-BBDF-CF88E7D56E0D}"/>
              </a:ext>
            </a:extLst>
          </p:cNvPr>
          <p:cNvSpPr>
            <a:spLocks noGrp="1"/>
          </p:cNvSpPr>
          <p:nvPr>
            <p:ph idx="1"/>
          </p:nvPr>
        </p:nvSpPr>
        <p:spPr>
          <a:xfrm>
            <a:off x="838199" y="1825624"/>
            <a:ext cx="10038907" cy="5032376"/>
          </a:xfrm>
        </p:spPr>
        <p:txBody>
          <a:bodyPr>
            <a:normAutofit lnSpcReduction="10000"/>
          </a:bodyPr>
          <a:lstStyle/>
          <a:p>
            <a:pPr fontAlgn="base">
              <a:spcBef>
                <a:spcPts val="0"/>
              </a:spcBef>
            </a:pPr>
            <a:r>
              <a:rPr lang="pt-BR" dirty="0"/>
              <a:t>Seminários (S): 50%</a:t>
            </a:r>
          </a:p>
          <a:p>
            <a:pPr lvl="1" fontAlgn="base">
              <a:spcBef>
                <a:spcPts val="0"/>
              </a:spcBef>
              <a:buFont typeface="Wingdings" panose="05000000000000000000" pitchFamily="2" charset="2"/>
              <a:buChar char="§"/>
            </a:pPr>
            <a:r>
              <a:rPr lang="pt-BR" dirty="0"/>
              <a:t>Cada aluno irá estudar alguns artigos e apresentar aos demais.</a:t>
            </a:r>
          </a:p>
          <a:p>
            <a:pPr lvl="1" fontAlgn="base">
              <a:spcBef>
                <a:spcPts val="0"/>
              </a:spcBef>
              <a:buFont typeface="Wingdings" panose="05000000000000000000" pitchFamily="2" charset="2"/>
              <a:buChar char="§"/>
            </a:pPr>
            <a:r>
              <a:rPr lang="pt-BR" dirty="0"/>
              <a:t>Duas semanas para o estudo e a preparação da apresentação e do quiz.</a:t>
            </a:r>
          </a:p>
          <a:p>
            <a:pPr fontAlgn="base">
              <a:spcBef>
                <a:spcPts val="0"/>
              </a:spcBef>
            </a:pPr>
            <a:r>
              <a:rPr lang="pt-BR" dirty="0"/>
              <a:t>Quizzes (Q): 5%</a:t>
            </a:r>
          </a:p>
          <a:p>
            <a:pPr lvl="1" fontAlgn="base">
              <a:spcBef>
                <a:spcPts val="0"/>
              </a:spcBef>
              <a:buFont typeface="Wingdings" panose="05000000000000000000" pitchFamily="2" charset="2"/>
              <a:buChar char="§"/>
            </a:pPr>
            <a:r>
              <a:rPr lang="pt-BR" dirty="0"/>
              <a:t>Resolução dos quizzes preparados pelos alunos.</a:t>
            </a:r>
          </a:p>
          <a:p>
            <a:pPr fontAlgn="base">
              <a:spcBef>
                <a:spcPts val="0"/>
              </a:spcBef>
            </a:pPr>
            <a:r>
              <a:rPr lang="pt-BR" dirty="0"/>
              <a:t>Proposta do projeto final (PPF): 10%</a:t>
            </a:r>
          </a:p>
          <a:p>
            <a:pPr lvl="1">
              <a:lnSpc>
                <a:spcPct val="100000"/>
              </a:lnSpc>
              <a:spcBef>
                <a:spcPts val="0"/>
              </a:spcBef>
              <a:buFont typeface="Wingdings" panose="05000000000000000000" pitchFamily="2" charset="2"/>
              <a:buChar char="§"/>
            </a:pPr>
            <a:r>
              <a:rPr lang="pt-BR" dirty="0"/>
              <a:t>Proposta de projeto prático com tema escolhido pelos alunos.</a:t>
            </a:r>
          </a:p>
          <a:p>
            <a:pPr lvl="1">
              <a:lnSpc>
                <a:spcPct val="100000"/>
              </a:lnSpc>
              <a:spcBef>
                <a:spcPts val="0"/>
              </a:spcBef>
              <a:buFont typeface="Wingdings" panose="05000000000000000000" pitchFamily="2" charset="2"/>
              <a:buChar char="§"/>
            </a:pPr>
            <a:r>
              <a:rPr lang="pt-BR" dirty="0"/>
              <a:t>Um aluno por projeto.</a:t>
            </a:r>
          </a:p>
          <a:p>
            <a:pPr lvl="1" fontAlgn="base">
              <a:lnSpc>
                <a:spcPct val="100000"/>
              </a:lnSpc>
              <a:spcBef>
                <a:spcPts val="0"/>
              </a:spcBef>
              <a:buFont typeface="Wingdings" panose="05000000000000000000" pitchFamily="2" charset="2"/>
              <a:buChar char="§"/>
            </a:pPr>
            <a:r>
              <a:rPr lang="pt-BR" dirty="0"/>
              <a:t>Prazo de entrega será divulgado no </a:t>
            </a:r>
            <a:r>
              <a:rPr lang="pt-BR" dirty="0" err="1"/>
              <a:t>Teams</a:t>
            </a:r>
            <a:r>
              <a:rPr lang="pt-BR" dirty="0"/>
              <a:t>.</a:t>
            </a:r>
          </a:p>
          <a:p>
            <a:pPr fontAlgn="base">
              <a:spcBef>
                <a:spcPts val="0"/>
              </a:spcBef>
            </a:pPr>
            <a:r>
              <a:rPr lang="pt-BR" dirty="0"/>
              <a:t>Projeto final (PF): 35%</a:t>
            </a:r>
          </a:p>
          <a:p>
            <a:pPr lvl="1" fontAlgn="base">
              <a:spcBef>
                <a:spcPts val="0"/>
              </a:spcBef>
              <a:buFont typeface="Wingdings" panose="05000000000000000000" pitchFamily="2" charset="2"/>
              <a:buChar char="§"/>
            </a:pPr>
            <a:r>
              <a:rPr lang="pt-BR" dirty="0"/>
              <a:t>Entrega de relatório em formato de artigo científico.</a:t>
            </a:r>
          </a:p>
          <a:p>
            <a:pPr lvl="1" fontAlgn="base">
              <a:spcBef>
                <a:spcPts val="0"/>
              </a:spcBef>
              <a:buFont typeface="Wingdings" panose="05000000000000000000" pitchFamily="2" charset="2"/>
              <a:buChar char="§"/>
            </a:pPr>
            <a:r>
              <a:rPr lang="pt-BR" dirty="0"/>
              <a:t>Apresentação na última semana de aula.</a:t>
            </a:r>
          </a:p>
          <a:p>
            <a:pPr marL="0" indent="0" fontAlgn="base">
              <a:spcBef>
                <a:spcPts val="0"/>
              </a:spcBef>
              <a:buNone/>
            </a:pPr>
            <a:endParaRPr lang="pt-BR" dirty="0"/>
          </a:p>
          <a:p>
            <a:pPr marL="0" indent="0" algn="ctr" fontAlgn="base">
              <a:spcBef>
                <a:spcPts val="0"/>
              </a:spcBef>
              <a:buNone/>
            </a:pPr>
            <a:r>
              <a:rPr lang="pt-BR" dirty="0"/>
              <a:t>NF = S*50% + Q*5% + PPF*10% + PF*35%</a:t>
            </a:r>
          </a:p>
        </p:txBody>
      </p:sp>
      <p:pic>
        <p:nvPicPr>
          <p:cNvPr id="4" name="Picture 3">
            <a:extLst>
              <a:ext uri="{FF2B5EF4-FFF2-40B4-BE49-F238E27FC236}">
                <a16:creationId xmlns:a16="http://schemas.microsoft.com/office/drawing/2014/main"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id="{0E171FC1-ABD1-9A30-24B9-3B431D21D315}"/>
              </a:ext>
            </a:extLst>
          </p:cNvPr>
          <p:cNvPicPr>
            <a:picLocks noChangeAspect="1"/>
          </p:cNvPicPr>
          <p:nvPr/>
        </p:nvPicPr>
        <p:blipFill>
          <a:blip r:embed="rId4"/>
          <a:stretch>
            <a:fillRect/>
          </a:stretch>
        </p:blipFill>
        <p:spPr>
          <a:xfrm>
            <a:off x="9539518" y="2879232"/>
            <a:ext cx="2533650" cy="1809750"/>
          </a:xfrm>
          <a:prstGeom prst="rect">
            <a:avLst/>
          </a:prstGeom>
        </p:spPr>
      </p:pic>
      <p:pic>
        <p:nvPicPr>
          <p:cNvPr id="6" name="Picture 5">
            <a:extLst>
              <a:ext uri="{FF2B5EF4-FFF2-40B4-BE49-F238E27FC236}">
                <a16:creationId xmlns:a16="http://schemas.microsoft.com/office/drawing/2014/main" id="{4A00239B-9DE4-3C62-31EF-097283BCD829}"/>
              </a:ext>
            </a:extLst>
          </p:cNvPr>
          <p:cNvPicPr>
            <a:picLocks noChangeAspect="1"/>
          </p:cNvPicPr>
          <p:nvPr/>
        </p:nvPicPr>
        <p:blipFill>
          <a:blip r:embed="rId5"/>
          <a:stretch>
            <a:fillRect/>
          </a:stretch>
        </p:blipFill>
        <p:spPr>
          <a:xfrm>
            <a:off x="9084386" y="5074404"/>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B87840-628C-E82C-47FA-C888AB409B21}"/>
              </a:ext>
            </a:extLst>
          </p:cNvPr>
          <p:cNvSpPr>
            <a:spLocks noGrp="1"/>
          </p:cNvSpPr>
          <p:nvPr>
            <p:ph type="title"/>
          </p:nvPr>
        </p:nvSpPr>
        <p:spPr/>
        <p:txBody>
          <a:bodyPr/>
          <a:lstStyle/>
          <a:p>
            <a:r>
              <a:rPr lang="pt-BR" dirty="0"/>
              <a:t>Instruções sobre os seminários e projeto final</a:t>
            </a:r>
          </a:p>
        </p:txBody>
      </p:sp>
      <p:sp>
        <p:nvSpPr>
          <p:cNvPr id="3" name="Espaço Reservado para Conteúdo 2">
            <a:extLst>
              <a:ext uri="{FF2B5EF4-FFF2-40B4-BE49-F238E27FC236}">
                <a16:creationId xmlns:a16="http://schemas.microsoft.com/office/drawing/2014/main" id="{60B96892-6767-8A98-62CA-E3A197F37080}"/>
              </a:ext>
            </a:extLst>
          </p:cNvPr>
          <p:cNvSpPr>
            <a:spLocks noGrp="1"/>
          </p:cNvSpPr>
          <p:nvPr>
            <p:ph idx="1"/>
          </p:nvPr>
        </p:nvSpPr>
        <p:spPr>
          <a:xfrm>
            <a:off x="838200" y="1825624"/>
            <a:ext cx="11190514" cy="5032375"/>
          </a:xfrm>
        </p:spPr>
        <p:txBody>
          <a:bodyPr/>
          <a:lstStyle/>
          <a:p>
            <a:r>
              <a:rPr lang="pt-BR" dirty="0"/>
              <a:t>Seminários: </a:t>
            </a:r>
            <a:r>
              <a:rPr lang="pt-BR" dirty="0">
                <a:hlinkClick r:id="rId2"/>
              </a:rPr>
              <a:t>http://tinyurl.com/tp558-seminars</a:t>
            </a:r>
            <a:endParaRPr lang="pt-BR" dirty="0"/>
          </a:p>
          <a:p>
            <a:r>
              <a:rPr lang="pt-BR" dirty="0"/>
              <a:t>Projeto final: </a:t>
            </a:r>
            <a:r>
              <a:rPr lang="pt-BR" dirty="0">
                <a:hlinkClick r:id="rId3"/>
              </a:rPr>
              <a:t>http://tinyurl.com/tp558-final-project</a:t>
            </a:r>
            <a:endParaRPr lang="pt-BR" dirty="0"/>
          </a:p>
        </p:txBody>
      </p:sp>
    </p:spTree>
    <p:extLst>
      <p:ext uri="{BB962C8B-B14F-4D97-AF65-F5344CB8AC3E}">
        <p14:creationId xmlns:p14="http://schemas.microsoft.com/office/powerpoint/2010/main" val="1970035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Possíveis temas para os seminários</a:t>
            </a:r>
          </a:p>
        </p:txBody>
      </p:sp>
      <p:sp>
        <p:nvSpPr>
          <p:cNvPr id="3" name="Espaço Reservado para Conteúdo 2"/>
          <p:cNvSpPr>
            <a:spLocks noGrp="1"/>
          </p:cNvSpPr>
          <p:nvPr>
            <p:ph idx="1"/>
          </p:nvPr>
        </p:nvSpPr>
        <p:spPr/>
        <p:txBody>
          <a:bodyPr/>
          <a:lstStyle/>
          <a:p>
            <a:r>
              <a:rPr lang="pt-BR" dirty="0">
                <a:hlinkClick r:id="rId2"/>
              </a:rPr>
              <a:t>https://docs.google.com/spreadsheets/d/19mypFcuvkspJEsLo58qEa70MwIDpH1KOYqf0OcO_vLI/edit?usp=sharing</a:t>
            </a:r>
            <a:endParaRPr lang="pt-BR" dirty="0"/>
          </a:p>
          <a:p>
            <a:r>
              <a:rPr lang="pt-BR" dirty="0"/>
              <a:t>Vocês podem propor outros temas, basta me enviar o artigo de interesse </a:t>
            </a:r>
            <a:r>
              <a:rPr lang="pt-BR" b="1" i="1" dirty="0">
                <a:solidFill>
                  <a:schemeClr val="accent2"/>
                </a:solidFill>
              </a:rPr>
              <a:t>para avaliação</a:t>
            </a:r>
            <a:r>
              <a:rPr lang="pt-BR" dirty="0"/>
              <a:t>.</a:t>
            </a:r>
          </a:p>
        </p:txBody>
      </p:sp>
    </p:spTree>
    <p:extLst>
      <p:ext uri="{BB962C8B-B14F-4D97-AF65-F5344CB8AC3E}">
        <p14:creationId xmlns:p14="http://schemas.microsoft.com/office/powerpoint/2010/main" val="3804457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dirty="0">
                <a:solidFill>
                  <a:srgbClr val="000000"/>
                </a:solidFill>
              </a:rPr>
              <a:t>[3]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br>
              <a:rPr lang="en-US" sz="2400" dirty="0">
                <a:solidFill>
                  <a:srgbClr val="000000"/>
                </a:solidFill>
              </a:rPr>
            </a:br>
            <a:r>
              <a:rPr lang="en-US" sz="2400" dirty="0">
                <a:solidFill>
                  <a:srgbClr val="000000"/>
                </a:solidFill>
              </a:rPr>
              <a:t>[4]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[5]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[6]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[7]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dirty="0">
                <a:solidFill>
                  <a:srgbClr val="000000"/>
                </a:solidFill>
              </a:rPr>
              <a:t>[8] “Livros”, </a:t>
            </a:r>
            <a:r>
              <a:rPr lang="pt-BR" sz="2400" dirty="0">
                <a:solidFill>
                  <a:srgbClr val="000000"/>
                </a:solidFill>
                <a:hlinkClick r:id="rId5"/>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terças-feiras das 10:00 às 11:00.</a:t>
            </a:r>
          </a:p>
          <a:p>
            <a:pPr lvl="1">
              <a:buFont typeface="Wingdings" panose="05000000000000000000" pitchFamily="2" charset="2"/>
              <a:buChar char="§"/>
            </a:pPr>
            <a:r>
              <a:rPr lang="pt-BR" dirty="0"/>
              <a:t>Presencialmente.</a:t>
            </a:r>
          </a:p>
        </p:txBody>
      </p:sp>
    </p:spTree>
    <p:extLst>
      <p:ext uri="{BB962C8B-B14F-4D97-AF65-F5344CB8AC3E}">
        <p14:creationId xmlns:p14="http://schemas.microsoft.com/office/powerpoint/2010/main" val="1412900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9010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137910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13877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18659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918525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34558013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2621045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1737853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61495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val="tx"/>
                    </a:ext>
                  </a:extLst>
                </a:hlinkClick>
              </a:rPr>
              <a:t>https://arxiv.org/abs/1609.03499</a:t>
            </a:r>
            <a:endParaRPr lang="pt-BR" b="0" i="0" dirty="0">
              <a:effectLst/>
            </a:endParaRPr>
          </a:p>
        </p:txBody>
      </p:sp>
    </p:spTree>
    <p:extLst>
      <p:ext uri="{BB962C8B-B14F-4D97-AF65-F5344CB8AC3E}">
        <p14:creationId xmlns:p14="http://schemas.microsoft.com/office/powerpoint/2010/main" val="1361149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3"/>
              </a:rPr>
              <a:t>https://arxiv.org/abs/2101.11174</a:t>
            </a:r>
            <a:endParaRPr lang="pt-BR" dirty="0"/>
          </a:p>
          <a:p>
            <a:pPr lvl="1">
              <a:buFont typeface="Wingdings" panose="05000000000000000000" pitchFamily="2" charset="2"/>
              <a:buChar char="ü"/>
            </a:pPr>
            <a:r>
              <a:rPr lang="pt-BR" dirty="0">
                <a:hlinkClick r:id="rId4"/>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5"/>
              </a:rPr>
              <a:t>https://arxiv.org/abs/2109.12894</a:t>
            </a:r>
            <a:endParaRPr lang="pt-BR" dirty="0"/>
          </a:p>
          <a:p>
            <a:pPr lvl="1">
              <a:buFont typeface="Wingdings" panose="05000000000000000000" pitchFamily="2" charset="2"/>
              <a:buChar char="ü"/>
            </a:pPr>
            <a:r>
              <a:rPr lang="pt-BR" dirty="0">
                <a:hlinkClick r:id="rId6"/>
              </a:rPr>
              <a:t>https://analyticsindiamag.com/a-tutorial-on-spiking-neural-networks-for-beginners/</a:t>
            </a:r>
            <a:endParaRPr lang="pt-BR" dirty="0"/>
          </a:p>
          <a:p>
            <a:pPr lvl="1">
              <a:buFont typeface="Wingdings" panose="05000000000000000000" pitchFamily="2" charset="2"/>
              <a:buChar char="ü"/>
            </a:pPr>
            <a:r>
              <a:rPr lang="pt-BR" dirty="0">
                <a:hlinkClick r:id="rId7"/>
              </a:rPr>
              <a:t>https://guillaume-chevalier.com/spiking-neural-network-snn-with-pytorch-where-backpropagation-engenders-stdp-hebbian-learning/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8"/>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1406490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5305776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3"/>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4"/>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5"/>
              </a:rPr>
              <a:t>https://arxiv.org/abs/2004.01461</a:t>
            </a:r>
            <a:endParaRPr lang="pt-BR" dirty="0"/>
          </a:p>
          <a:p>
            <a:pPr lvl="2">
              <a:buFont typeface="Wingdings" panose="05000000000000000000" pitchFamily="2" charset="2"/>
              <a:buChar char="ü"/>
            </a:pPr>
            <a:r>
              <a:rPr lang="pt-BR" dirty="0">
                <a:hlinkClick r:id="rId6"/>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7"/>
              </a:rPr>
              <a:t>https://arxiv.org/pdf/2211.09760</a:t>
            </a:r>
            <a:endParaRPr lang="pt-BR" dirty="0"/>
          </a:p>
          <a:p>
            <a:pPr lvl="2">
              <a:buFont typeface="Wingdings" panose="05000000000000000000" pitchFamily="2" charset="2"/>
              <a:buChar char="ü"/>
            </a:pPr>
            <a:r>
              <a:rPr lang="pt-BR" dirty="0">
                <a:hlinkClick r:id="rId8"/>
              </a:rPr>
              <a:t>https://velo-code.github.io/</a:t>
            </a:r>
            <a:endParaRPr lang="pt-BR" dirty="0"/>
          </a:p>
          <a:p>
            <a:pPr marL="914400" lvl="2" indent="0">
              <a:buNone/>
            </a:pPr>
            <a:br>
              <a:rPr lang="pt-BR" dirty="0"/>
            </a:br>
            <a:endParaRPr lang="pt-BR" dirty="0"/>
          </a:p>
          <a:p>
            <a:endParaRPr lang="pt-BR" dirty="0"/>
          </a:p>
        </p:txBody>
      </p:sp>
    </p:spTree>
    <p:extLst>
      <p:ext uri="{BB962C8B-B14F-4D97-AF65-F5344CB8AC3E}">
        <p14:creationId xmlns:p14="http://schemas.microsoft.com/office/powerpoint/2010/main" val="70923220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8250</TotalTime>
  <Words>2357</Words>
  <Application>Microsoft Office PowerPoint</Application>
  <PresentationFormat>Widescreen</PresentationFormat>
  <Paragraphs>249</Paragraphs>
  <Slides>26</Slides>
  <Notes>6</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26</vt:i4>
      </vt:variant>
    </vt:vector>
  </HeadingPairs>
  <TitlesOfParts>
    <vt:vector size="32" baseType="lpstr">
      <vt:lpstr>Arial</vt:lpstr>
      <vt:lpstr>Calibri</vt:lpstr>
      <vt:lpstr>Calibri Light</vt:lpstr>
      <vt:lpstr>Lato</vt:lpstr>
      <vt:lpstr>Wingdings</vt:lpstr>
      <vt:lpstr>Tema do Office</vt:lpstr>
      <vt:lpstr>TP558 - Tópicos avançados em Machine Learning: Introdução ao curso</vt:lpstr>
      <vt:lpstr>Sobre o curso</vt:lpstr>
      <vt:lpstr>Dinâmica do curso</vt:lpstr>
      <vt:lpstr>Objetivos do curso</vt:lpstr>
      <vt:lpstr>Pré-requisitos</vt:lpstr>
      <vt:lpstr>Repositório</vt:lpstr>
      <vt:lpstr>Avaliação</vt:lpstr>
      <vt:lpstr>Instruções sobre os seminários e projeto final</vt:lpstr>
      <vt:lpstr>Possíveis temas para os seminários</vt:lpstr>
      <vt:lpstr>Referências</vt:lpstr>
      <vt:lpstr>Avisos</vt:lpstr>
      <vt:lpstr>Apresentação do PowerPoint</vt:lpstr>
      <vt:lpstr>Apresentação do PowerPoint</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1783</cp:revision>
  <dcterms:created xsi:type="dcterms:W3CDTF">2020-01-20T13:50:05Z</dcterms:created>
  <dcterms:modified xsi:type="dcterms:W3CDTF">2026-08-02T15:08:26Z</dcterms:modified>
</cp:coreProperties>
</file>