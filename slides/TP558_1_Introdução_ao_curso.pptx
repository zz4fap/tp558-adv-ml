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8"/>
  </p:notesMasterIdLst>
  <p:handoutMasterIdLst>
    <p:handoutMasterId r:id="rId29"/>
  </p:handoutMasterIdLst>
  <p:sldIdLst>
    <p:sldId id="256" r:id="rId2"/>
    <p:sldId id="395" r:id="rId3"/>
    <p:sldId id="423" r:id="rId4"/>
    <p:sldId id="422" r:id="rId5"/>
    <p:sldId id="439" r:id="rId6"/>
    <p:sldId id="425" r:id="rId7"/>
    <p:sldId id="398" r:id="rId8"/>
    <p:sldId id="424" r:id="rId9"/>
    <p:sldId id="453" r:id="rId10"/>
    <p:sldId id="263" r:id="rId11"/>
    <p:sldId id="298" r:id="rId12"/>
    <p:sldId id="293" r:id="rId13"/>
    <p:sldId id="306" r:id="rId14"/>
    <p:sldId id="440" r:id="rId15"/>
    <p:sldId id="441" r:id="rId16"/>
    <p:sldId id="442" r:id="rId17"/>
    <p:sldId id="443" r:id="rId18"/>
    <p:sldId id="444" r:id="rId19"/>
    <p:sldId id="445" r:id="rId20"/>
    <p:sldId id="446" r:id="rId21"/>
    <p:sldId id="447" r:id="rId22"/>
    <p:sldId id="448" r:id="rId23"/>
    <p:sldId id="449" r:id="rId24"/>
    <p:sldId id="450" r:id="rId25"/>
    <p:sldId id="451" r:id="rId26"/>
    <p:sldId id="452" r:id="rId27"/>
  </p:sldIdLst>
  <p:sldSz cx="12192000" cy="6858000"/>
  <p:notesSz cx="7315200" cy="9601200"/>
  <p:defaultText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F1F5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3FCA41B-7398-400B-83DC-FDE8722EB923}" v="79" dt="2020-02-09T01:28:39.66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1078" autoAdjust="0"/>
    <p:restoredTop sz="81867" autoAdjust="0"/>
  </p:normalViewPr>
  <p:slideViewPr>
    <p:cSldViewPr snapToGrid="0">
      <p:cViewPr varScale="1">
        <p:scale>
          <a:sx n="90" d="100"/>
          <a:sy n="90" d="100"/>
        </p:scale>
        <p:origin x="1614" y="96"/>
      </p:cViewPr>
      <p:guideLst/>
    </p:cSldViewPr>
  </p:slideViewPr>
  <p:outlineViewPr>
    <p:cViewPr>
      <p:scale>
        <a:sx n="33" d="100"/>
        <a:sy n="33" d="100"/>
      </p:scale>
      <p:origin x="0" y="-8862"/>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microsoft.com/office/2016/11/relationships/changesInfo" Target="changesInfos/changesInfo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handoutMaster" Target="handoutMasters/handout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presProps" Target="presProps.xml"/><Relationship Id="rId35" Type="http://schemas.microsoft.com/office/2015/10/relationships/revisionInfo" Target="revisionInfo.xml"/><Relationship Id="rId8" Type="http://schemas.openxmlformats.org/officeDocument/2006/relationships/slide" Target="slides/slide7.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Felipe Augusto Pereira de Figueiredo" userId="e1771b70d906f94b" providerId="Windows Live" clId="Web-{B3FCA41B-7398-400B-83DC-FDE8722EB923}"/>
    <pc:docChg chg="modSld">
      <pc:chgData name="Felipe Augusto Pereira de Figueiredo" userId="e1771b70d906f94b" providerId="Windows Live" clId="Web-{B3FCA41B-7398-400B-83DC-FDE8722EB923}" dt="2020-02-09T01:40:38.055" v="257"/>
      <pc:docMkLst>
        <pc:docMk/>
      </pc:docMkLst>
      <pc:sldChg chg="modSp modNotes">
        <pc:chgData name="Felipe Augusto Pereira de Figueiredo" userId="e1771b70d906f94b" providerId="Windows Live" clId="Web-{B3FCA41B-7398-400B-83DC-FDE8722EB923}" dt="2020-02-09T01:26:20.191" v="45"/>
        <pc:sldMkLst>
          <pc:docMk/>
          <pc:sldMk cId="636059476" sldId="259"/>
        </pc:sldMkLst>
        <pc:spChg chg="mod">
          <ac:chgData name="Felipe Augusto Pereira de Figueiredo" userId="e1771b70d906f94b" providerId="Windows Live" clId="Web-{B3FCA41B-7398-400B-83DC-FDE8722EB923}" dt="2020-02-09T01:22:23.081" v="18" actId="1076"/>
          <ac:spMkLst>
            <pc:docMk/>
            <pc:sldMk cId="636059476" sldId="259"/>
            <ac:spMk id="3" creationId="{979D29AC-E01B-406F-AC75-55866B75A7CC}"/>
          </ac:spMkLst>
        </pc:spChg>
      </pc:sldChg>
      <pc:sldChg chg="modNotes">
        <pc:chgData name="Felipe Augusto Pereira de Figueiredo" userId="e1771b70d906f94b" providerId="Windows Live" clId="Web-{B3FCA41B-7398-400B-83DC-FDE8722EB923}" dt="2020-02-09T01:21:46.721" v="16"/>
        <pc:sldMkLst>
          <pc:docMk/>
          <pc:sldMk cId="248504461" sldId="267"/>
        </pc:sldMkLst>
      </pc:sldChg>
      <pc:sldChg chg="modSp modNotes">
        <pc:chgData name="Felipe Augusto Pereira de Figueiredo" userId="e1771b70d906f94b" providerId="Windows Live" clId="Web-{B3FCA41B-7398-400B-83DC-FDE8722EB923}" dt="2020-02-09T01:40:38.055" v="257"/>
        <pc:sldMkLst>
          <pc:docMk/>
          <pc:sldMk cId="2076219387" sldId="277"/>
        </pc:sldMkLst>
        <pc:spChg chg="mod">
          <ac:chgData name="Felipe Augusto Pereira de Figueiredo" userId="e1771b70d906f94b" providerId="Windows Live" clId="Web-{B3FCA41B-7398-400B-83DC-FDE8722EB923}" dt="2020-02-09T01:28:39.664" v="120" actId="14100"/>
          <ac:spMkLst>
            <pc:docMk/>
            <pc:sldMk cId="2076219387" sldId="277"/>
            <ac:spMk id="3" creationId="{5E0262E2-3A0F-4805-BCCB-6745237D1574}"/>
          </ac:spMkLst>
        </pc:spChg>
      </pc:sldChg>
    </pc:docChg>
  </pc:docChgLst>
  <pc:docChgLst>
    <pc:chgData name="Felipe Augusto Pereira de Figueiredo" userId="e1771b70d906f94b" providerId="Windows Live" clId="Web-{1FA475AF-6444-47C2-89B1-9776BABC0E66}"/>
    <pc:docChg chg="modSld">
      <pc:chgData name="Felipe Augusto Pereira de Figueiredo" userId="e1771b70d906f94b" providerId="Windows Live" clId="Web-{1FA475AF-6444-47C2-89B1-9776BABC0E66}" dt="2020-02-09T18:53:52.767" v="85"/>
      <pc:docMkLst>
        <pc:docMk/>
      </pc:docMkLst>
      <pc:sldChg chg="modNotes">
        <pc:chgData name="Felipe Augusto Pereira de Figueiredo" userId="e1771b70d906f94b" providerId="Windows Live" clId="Web-{1FA475AF-6444-47C2-89B1-9776BABC0E66}" dt="2020-02-09T18:53:52.767" v="85"/>
        <pc:sldMkLst>
          <pc:docMk/>
          <pc:sldMk cId="248504461" sldId="267"/>
        </pc:sldMkLst>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1" y="0"/>
            <a:ext cx="3169922" cy="480722"/>
          </a:xfrm>
          <a:prstGeom prst="rect">
            <a:avLst/>
          </a:prstGeom>
        </p:spPr>
        <p:txBody>
          <a:bodyPr vert="horz" lIns="168634" tIns="84317" rIns="168634" bIns="84317" rtlCol="0"/>
          <a:lstStyle>
            <a:lvl1pPr algn="l">
              <a:defRPr sz="2200"/>
            </a:lvl1pPr>
          </a:lstStyle>
          <a:p>
            <a:endParaRPr lang="nl-BE"/>
          </a:p>
        </p:txBody>
      </p:sp>
      <p:sp>
        <p:nvSpPr>
          <p:cNvPr id="3" name="Date Placeholder 2"/>
          <p:cNvSpPr>
            <a:spLocks noGrp="1"/>
          </p:cNvSpPr>
          <p:nvPr>
            <p:ph type="dt" sz="quarter" idx="1"/>
          </p:nvPr>
        </p:nvSpPr>
        <p:spPr>
          <a:xfrm>
            <a:off x="4143589" y="0"/>
            <a:ext cx="3169922" cy="480722"/>
          </a:xfrm>
          <a:prstGeom prst="rect">
            <a:avLst/>
          </a:prstGeom>
        </p:spPr>
        <p:txBody>
          <a:bodyPr vert="horz" lIns="168634" tIns="84317" rIns="168634" bIns="84317" rtlCol="0"/>
          <a:lstStyle>
            <a:lvl1pPr algn="r">
              <a:defRPr sz="2200"/>
            </a:lvl1pPr>
          </a:lstStyle>
          <a:p>
            <a:fld id="{144F1436-6906-4D93-B7A2-786C327BFA14}" type="datetimeFigureOut">
              <a:rPr lang="nl-BE" smtClean="0"/>
              <a:t>2/08/2026</a:t>
            </a:fld>
            <a:endParaRPr lang="nl-BE"/>
          </a:p>
        </p:txBody>
      </p:sp>
      <p:sp>
        <p:nvSpPr>
          <p:cNvPr id="4" name="Footer Placeholder 3"/>
          <p:cNvSpPr>
            <a:spLocks noGrp="1"/>
          </p:cNvSpPr>
          <p:nvPr>
            <p:ph type="ftr" sz="quarter" idx="2"/>
          </p:nvPr>
        </p:nvSpPr>
        <p:spPr>
          <a:xfrm>
            <a:off x="1" y="9120488"/>
            <a:ext cx="3169922" cy="480718"/>
          </a:xfrm>
          <a:prstGeom prst="rect">
            <a:avLst/>
          </a:prstGeom>
        </p:spPr>
        <p:txBody>
          <a:bodyPr vert="horz" lIns="168634" tIns="84317" rIns="168634" bIns="84317" rtlCol="0" anchor="b"/>
          <a:lstStyle>
            <a:lvl1pPr algn="l">
              <a:defRPr sz="2200"/>
            </a:lvl1pPr>
          </a:lstStyle>
          <a:p>
            <a:endParaRPr lang="nl-BE"/>
          </a:p>
        </p:txBody>
      </p:sp>
      <p:sp>
        <p:nvSpPr>
          <p:cNvPr id="5" name="Slide Number Placeholder 4"/>
          <p:cNvSpPr>
            <a:spLocks noGrp="1"/>
          </p:cNvSpPr>
          <p:nvPr>
            <p:ph type="sldNum" sz="quarter" idx="3"/>
          </p:nvPr>
        </p:nvSpPr>
        <p:spPr>
          <a:xfrm>
            <a:off x="4143589" y="9120488"/>
            <a:ext cx="3169922" cy="480718"/>
          </a:xfrm>
          <a:prstGeom prst="rect">
            <a:avLst/>
          </a:prstGeom>
        </p:spPr>
        <p:txBody>
          <a:bodyPr vert="horz" lIns="168634" tIns="84317" rIns="168634" bIns="84317" rtlCol="0" anchor="b"/>
          <a:lstStyle>
            <a:lvl1pPr algn="r">
              <a:defRPr sz="2200"/>
            </a:lvl1pPr>
          </a:lstStyle>
          <a:p>
            <a:fld id="{F7E56D9B-79AD-444A-AFED-DEC23408F8B4}" type="slidenum">
              <a:rPr lang="nl-BE" smtClean="0"/>
              <a:t>‹nº›</a:t>
            </a:fld>
            <a:endParaRPr lang="nl-BE"/>
          </a:p>
        </p:txBody>
      </p:sp>
    </p:spTree>
    <p:extLst>
      <p:ext uri="{BB962C8B-B14F-4D97-AF65-F5344CB8AC3E}">
        <p14:creationId xmlns:p14="http://schemas.microsoft.com/office/powerpoint/2010/main" val="316353311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Cabeçalho 1"/>
          <p:cNvSpPr>
            <a:spLocks noGrp="1"/>
          </p:cNvSpPr>
          <p:nvPr>
            <p:ph type="hdr" sz="quarter"/>
          </p:nvPr>
        </p:nvSpPr>
        <p:spPr>
          <a:xfrm>
            <a:off x="5" y="1"/>
            <a:ext cx="3169922" cy="1903121"/>
          </a:xfrm>
          <a:prstGeom prst="rect">
            <a:avLst/>
          </a:prstGeom>
        </p:spPr>
        <p:txBody>
          <a:bodyPr vert="horz" lIns="168634" tIns="84317" rIns="168634" bIns="84317" rtlCol="0"/>
          <a:lstStyle>
            <a:lvl1pPr algn="l">
              <a:defRPr sz="2200"/>
            </a:lvl1pPr>
          </a:lstStyle>
          <a:p>
            <a:endParaRPr lang="pt-BR"/>
          </a:p>
        </p:txBody>
      </p:sp>
      <p:sp>
        <p:nvSpPr>
          <p:cNvPr id="3" name="Espaço Reservado para Data 2"/>
          <p:cNvSpPr>
            <a:spLocks noGrp="1"/>
          </p:cNvSpPr>
          <p:nvPr>
            <p:ph type="dt" idx="1"/>
          </p:nvPr>
        </p:nvSpPr>
        <p:spPr>
          <a:xfrm>
            <a:off x="4143592" y="1"/>
            <a:ext cx="3169922" cy="1903121"/>
          </a:xfrm>
          <a:prstGeom prst="rect">
            <a:avLst/>
          </a:prstGeom>
        </p:spPr>
        <p:txBody>
          <a:bodyPr vert="horz" lIns="168634" tIns="84317" rIns="168634" bIns="84317" rtlCol="0"/>
          <a:lstStyle>
            <a:lvl1pPr algn="r">
              <a:defRPr sz="2200"/>
            </a:lvl1pPr>
          </a:lstStyle>
          <a:p>
            <a:fld id="{AA8CD09E-2914-4F47-B6C1-51B2C31814C9}" type="datetimeFigureOut">
              <a:rPr lang="pt-BR" smtClean="0"/>
              <a:t>02/08/2026</a:t>
            </a:fld>
            <a:endParaRPr lang="pt-BR"/>
          </a:p>
        </p:txBody>
      </p:sp>
      <p:sp>
        <p:nvSpPr>
          <p:cNvPr id="4" name="Espaço Reservado para Imagem de Slide 3"/>
          <p:cNvSpPr>
            <a:spLocks noGrp="1" noRot="1" noChangeAspect="1"/>
          </p:cNvSpPr>
          <p:nvPr>
            <p:ph type="sldImg" idx="2"/>
          </p:nvPr>
        </p:nvSpPr>
        <p:spPr>
          <a:xfrm>
            <a:off x="-7721600" y="4740275"/>
            <a:ext cx="22758400" cy="12801600"/>
          </a:xfrm>
          <a:prstGeom prst="rect">
            <a:avLst/>
          </a:prstGeom>
          <a:noFill/>
          <a:ln w="12700">
            <a:solidFill>
              <a:prstClr val="black"/>
            </a:solidFill>
          </a:ln>
        </p:spPr>
        <p:txBody>
          <a:bodyPr vert="horz" lIns="168634" tIns="84317" rIns="168634" bIns="84317" rtlCol="0" anchor="ctr"/>
          <a:lstStyle/>
          <a:p>
            <a:endParaRPr lang="pt-BR"/>
          </a:p>
        </p:txBody>
      </p:sp>
      <p:sp>
        <p:nvSpPr>
          <p:cNvPr id="5" name="Espaço Reservado para Anotações 4"/>
          <p:cNvSpPr>
            <a:spLocks noGrp="1"/>
          </p:cNvSpPr>
          <p:nvPr>
            <p:ph type="body" sz="quarter" idx="3"/>
          </p:nvPr>
        </p:nvSpPr>
        <p:spPr>
          <a:xfrm>
            <a:off x="731522" y="18254135"/>
            <a:ext cx="5852160" cy="14935200"/>
          </a:xfrm>
          <a:prstGeom prst="rect">
            <a:avLst/>
          </a:prstGeom>
        </p:spPr>
        <p:txBody>
          <a:bodyPr vert="horz" lIns="168634" tIns="84317" rIns="168634" bIns="84317" rtlCol="0"/>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6" name="Espaço Reservado para Rodapé 5"/>
          <p:cNvSpPr>
            <a:spLocks noGrp="1"/>
          </p:cNvSpPr>
          <p:nvPr>
            <p:ph type="ftr" sz="quarter" idx="4"/>
          </p:nvPr>
        </p:nvSpPr>
        <p:spPr>
          <a:xfrm>
            <a:off x="5" y="36027558"/>
            <a:ext cx="3169922" cy="1903117"/>
          </a:xfrm>
          <a:prstGeom prst="rect">
            <a:avLst/>
          </a:prstGeom>
        </p:spPr>
        <p:txBody>
          <a:bodyPr vert="horz" lIns="168634" tIns="84317" rIns="168634" bIns="84317" rtlCol="0" anchor="b"/>
          <a:lstStyle>
            <a:lvl1pPr algn="l">
              <a:defRPr sz="2200"/>
            </a:lvl1pPr>
          </a:lstStyle>
          <a:p>
            <a:endParaRPr lang="pt-BR"/>
          </a:p>
        </p:txBody>
      </p:sp>
      <p:sp>
        <p:nvSpPr>
          <p:cNvPr id="7" name="Espaço Reservado para Número de Slide 6"/>
          <p:cNvSpPr>
            <a:spLocks noGrp="1"/>
          </p:cNvSpPr>
          <p:nvPr>
            <p:ph type="sldNum" sz="quarter" idx="5"/>
          </p:nvPr>
        </p:nvSpPr>
        <p:spPr>
          <a:xfrm>
            <a:off x="4143592" y="36027558"/>
            <a:ext cx="3169922" cy="1903117"/>
          </a:xfrm>
          <a:prstGeom prst="rect">
            <a:avLst/>
          </a:prstGeom>
        </p:spPr>
        <p:txBody>
          <a:bodyPr vert="horz" lIns="168634" tIns="84317" rIns="168634" bIns="84317" rtlCol="0" anchor="b"/>
          <a:lstStyle>
            <a:lvl1pPr algn="r">
              <a:defRPr sz="2200"/>
            </a:lvl1pPr>
          </a:lstStyle>
          <a:p>
            <a:fld id="{6FC8D850-966F-45A6-8DE7-15B891E7D40D}" type="slidenum">
              <a:rPr lang="pt-BR" smtClean="0"/>
              <a:t>‹nº›</a:t>
            </a:fld>
            <a:endParaRPr lang="pt-BR"/>
          </a:p>
        </p:txBody>
      </p:sp>
    </p:spTree>
    <p:extLst>
      <p:ext uri="{BB962C8B-B14F-4D97-AF65-F5344CB8AC3E}">
        <p14:creationId xmlns:p14="http://schemas.microsoft.com/office/powerpoint/2010/main" val="35418147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3" Type="http://schemas.openxmlformats.org/officeDocument/2006/relationships/hyperlink" Target="https://posinatel-my.sharepoint.com/:f:/g/personal/felipe_figueiredo_inatel_br/En1Ys0e6S8tCpJqo7pOWIj4BoYdq8ppDlXV0cGLEWy_xFg?e=AEN5du" TargetMode="External"/><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baseline="0"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a:t>
            </a:fld>
            <a:endParaRPr lang="pt-BR"/>
          </a:p>
        </p:txBody>
      </p:sp>
    </p:spTree>
    <p:extLst>
      <p:ext uri="{BB962C8B-B14F-4D97-AF65-F5344CB8AC3E}">
        <p14:creationId xmlns:p14="http://schemas.microsoft.com/office/powerpoint/2010/main" val="166074746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a:t>
            </a:fld>
            <a:endParaRPr lang="pt-BR"/>
          </a:p>
        </p:txBody>
      </p:sp>
    </p:spTree>
    <p:extLst>
      <p:ext uri="{BB962C8B-B14F-4D97-AF65-F5344CB8AC3E}">
        <p14:creationId xmlns:p14="http://schemas.microsoft.com/office/powerpoint/2010/main" val="326999318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Um seminário é uma atividade acadêmica ou evento em que um grupo de pessoas se reúne para discutir, apresentar e trocar informações sobre um tópico específico. Geralmente, os seminários são realizados em ambientes educacionais, como universidades ou escolas, mas também podem ocorrer em contextos profissionais ou empresariais.</a:t>
            </a:r>
          </a:p>
          <a:p>
            <a:endParaRPr lang="pt-BR" dirty="0"/>
          </a:p>
          <a:p>
            <a:r>
              <a:rPr lang="pt-BR" dirty="0"/>
              <a:t>Os seminários são diferentes de palestras tradicionais, pois envolvem uma participação mais ativa da audiência. Eles geralmente incluem apresentações feitas por um ou mais palestrantes especializados no tópico em questão. Os participantes, por sua vez, têm a oportunidade de fazer perguntas, participar de discussões e interagir com os palestrantes.</a:t>
            </a:r>
          </a:p>
          <a:p>
            <a:endParaRPr lang="pt-BR" dirty="0"/>
          </a:p>
          <a:p>
            <a:r>
              <a:rPr lang="pt-BR" dirty="0"/>
              <a:t>Além das apresentações formais, os seminários podem incluir debates, grupos de discussão, exercícios práticos ou até mesmo a apresentação de trabalhos acadêmicos por parte dos participantes. O objetivo é promover a troca de conhecimento, o desenvolvimento de habilidades críticas e a construção de uma compreensão mais aprofundada sobre o tema abordado.</a:t>
            </a:r>
          </a:p>
          <a:p>
            <a:endParaRPr lang="pt-BR" dirty="0"/>
          </a:p>
          <a:p>
            <a:r>
              <a:rPr lang="pt-BR" dirty="0"/>
              <a:t>Seminários são comuns em diversos campos, incluindo ciência, tecnologia, humanidades, negócios e muitos outros. Eles oferecem uma plataforma para a disseminação de informações, o compartilhamento de pesquisas e a promoção do diálogo entre especialistas e interessados no assunto.</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7</a:t>
            </a:fld>
            <a:endParaRPr lang="pt-BR"/>
          </a:p>
        </p:txBody>
      </p:sp>
    </p:spTree>
    <p:extLst>
      <p:ext uri="{BB962C8B-B14F-4D97-AF65-F5344CB8AC3E}">
        <p14:creationId xmlns:p14="http://schemas.microsoft.com/office/powerpoint/2010/main" val="199769785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en-US"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8</a:t>
            </a:fld>
            <a:endParaRPr lang="pt-BR"/>
          </a:p>
        </p:txBody>
      </p:sp>
    </p:spTree>
    <p:extLst>
      <p:ext uri="{BB962C8B-B14F-4D97-AF65-F5344CB8AC3E}">
        <p14:creationId xmlns:p14="http://schemas.microsoft.com/office/powerpoint/2010/main" val="339445958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hlinkClick r:id="rId3"/>
              </a:rPr>
              <a:t>books</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10</a:t>
            </a:fld>
            <a:endParaRPr lang="pt-BR"/>
          </a:p>
        </p:txBody>
      </p:sp>
    </p:spTree>
    <p:extLst>
      <p:ext uri="{BB962C8B-B14F-4D97-AF65-F5344CB8AC3E}">
        <p14:creationId xmlns:p14="http://schemas.microsoft.com/office/powerpoint/2010/main" val="92893458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sz="1200" b="0" i="0" kern="1200" dirty="0">
                <a:solidFill>
                  <a:schemeClr val="tx1"/>
                </a:solidFill>
                <a:effectLst/>
                <a:latin typeface="+mn-lt"/>
                <a:ea typeface="+mn-ea"/>
                <a:cs typeface="+mn-cs"/>
              </a:rPr>
              <a:t>são modelos computacionais inspirados no funcionamento do cérebro biológico. Elas processam informações usando </a:t>
            </a:r>
            <a:r>
              <a:rPr lang="pt-BR" sz="1200" b="1" i="0" kern="1200" dirty="0">
                <a:solidFill>
                  <a:schemeClr val="tx1"/>
                </a:solidFill>
                <a:effectLst/>
                <a:latin typeface="+mn-lt"/>
                <a:ea typeface="+mn-ea"/>
                <a:cs typeface="+mn-cs"/>
              </a:rPr>
              <a:t>pulsos discretos no tempo</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spikes</a:t>
            </a:r>
            <a:r>
              <a:rPr lang="pt-BR" sz="1200" b="0" i="0" kern="1200" dirty="0">
                <a:solidFill>
                  <a:schemeClr val="tx1"/>
                </a:solidFill>
                <a:effectLst/>
                <a:latin typeface="+mn-lt"/>
                <a:ea typeface="+mn-ea"/>
                <a:cs typeface="+mn-cs"/>
              </a:rPr>
              <a:t>), imitando a comunicação entre neurônios reais. Sua principal utilidade está em cenários que exigem </a:t>
            </a:r>
            <a:r>
              <a:rPr lang="pt-BR" sz="1200" b="1" i="0" kern="1200" dirty="0">
                <a:solidFill>
                  <a:schemeClr val="tx1"/>
                </a:solidFill>
                <a:effectLst/>
                <a:latin typeface="+mn-lt"/>
                <a:ea typeface="+mn-ea"/>
                <a:cs typeface="+mn-cs"/>
              </a:rPr>
              <a:t>eficiência energética extrema</a:t>
            </a:r>
            <a:r>
              <a:rPr lang="pt-BR" sz="1200" b="0" i="0" kern="1200" dirty="0">
                <a:solidFill>
                  <a:schemeClr val="tx1"/>
                </a:solidFill>
                <a:effectLst/>
                <a:latin typeface="+mn-lt"/>
                <a:ea typeface="+mn-ea"/>
                <a:cs typeface="+mn-cs"/>
              </a:rPr>
              <a:t>, processamento de dados temporais e integração com hardware </a:t>
            </a:r>
            <a:r>
              <a:rPr lang="pt-BR" sz="1200" b="0" i="0" kern="1200" dirty="0" err="1">
                <a:solidFill>
                  <a:schemeClr val="tx1"/>
                </a:solidFill>
                <a:effectLst/>
                <a:latin typeface="+mn-lt"/>
                <a:ea typeface="+mn-ea"/>
                <a:cs typeface="+mn-cs"/>
              </a:rPr>
              <a:t>neuromórfico</a:t>
            </a:r>
            <a:r>
              <a:rPr lang="pt-BR" sz="1200" b="0" i="0" kern="1200" dirty="0">
                <a:solidFill>
                  <a:schemeClr val="tx1"/>
                </a:solidFill>
                <a:effectLst/>
                <a:latin typeface="+mn-lt"/>
                <a:ea typeface="+mn-ea"/>
                <a:cs typeface="+mn-cs"/>
              </a:rPr>
              <a:t>.</a:t>
            </a:r>
            <a:endParaRPr lang="pt-BR" dirty="0"/>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24</a:t>
            </a:fld>
            <a:endParaRPr lang="pt-BR"/>
          </a:p>
        </p:txBody>
      </p:sp>
    </p:spTree>
    <p:extLst>
      <p:ext uri="{BB962C8B-B14F-4D97-AF65-F5344CB8AC3E}">
        <p14:creationId xmlns:p14="http://schemas.microsoft.com/office/powerpoint/2010/main" val="110767686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en-US" sz="1200" b="0" i="0" kern="1200" dirty="0">
                <a:solidFill>
                  <a:schemeClr val="tx1"/>
                </a:solidFill>
                <a:effectLst/>
                <a:latin typeface="+mn-lt"/>
                <a:ea typeface="+mn-ea"/>
                <a:cs typeface="+mn-cs"/>
              </a:rPr>
              <a:t>Gradient Centralization can both speedup training process and improve the final generalization performance of DNNs.</a:t>
            </a:r>
            <a:endParaRPr lang="pt-BR" dirty="0"/>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26</a:t>
            </a:fld>
            <a:endParaRPr lang="pt-BR"/>
          </a:p>
        </p:txBody>
      </p:sp>
    </p:spTree>
    <p:extLst>
      <p:ext uri="{BB962C8B-B14F-4D97-AF65-F5344CB8AC3E}">
        <p14:creationId xmlns:p14="http://schemas.microsoft.com/office/powerpoint/2010/main" val="351414155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Slide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DB9B4FF-B06E-403C-A326-BDC64D8FF94E}"/>
              </a:ext>
            </a:extLst>
          </p:cNvPr>
          <p:cNvSpPr>
            <a:spLocks noGrp="1"/>
          </p:cNvSpPr>
          <p:nvPr>
            <p:ph type="ctrTitle"/>
          </p:nvPr>
        </p:nvSpPr>
        <p:spPr>
          <a:xfrm>
            <a:off x="1524000" y="1122363"/>
            <a:ext cx="9144000" cy="2387600"/>
          </a:xfrm>
        </p:spPr>
        <p:txBody>
          <a:bodyPr anchor="b"/>
          <a:lstStyle>
            <a:lvl1pPr algn="ctr">
              <a:defRPr sz="6000"/>
            </a:lvl1pPr>
          </a:lstStyle>
          <a:p>
            <a:r>
              <a:rPr lang="pt-BR"/>
              <a:t>Clique para editar o título Mestre</a:t>
            </a:r>
          </a:p>
        </p:txBody>
      </p:sp>
      <p:sp>
        <p:nvSpPr>
          <p:cNvPr id="3" name="Subtítulo 2">
            <a:extLst>
              <a:ext uri="{FF2B5EF4-FFF2-40B4-BE49-F238E27FC236}">
                <a16:creationId xmlns:a16="http://schemas.microsoft.com/office/drawing/2014/main" id="{247BDFCE-746E-45BF-A319-4733D58D163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pt-BR"/>
              <a:t>Clique para editar o estilo do subtítulo Mestre</a:t>
            </a:r>
          </a:p>
        </p:txBody>
      </p:sp>
      <p:sp>
        <p:nvSpPr>
          <p:cNvPr id="4" name="Espaço Reservado para Data 3">
            <a:extLst>
              <a:ext uri="{FF2B5EF4-FFF2-40B4-BE49-F238E27FC236}">
                <a16:creationId xmlns:a16="http://schemas.microsoft.com/office/drawing/2014/main" id="{9EDE2778-5372-4104-B96D-968184DA8288}"/>
              </a:ext>
            </a:extLst>
          </p:cNvPr>
          <p:cNvSpPr>
            <a:spLocks noGrp="1"/>
          </p:cNvSpPr>
          <p:nvPr>
            <p:ph type="dt" sz="half" idx="10"/>
          </p:nvPr>
        </p:nvSpPr>
        <p:spPr/>
        <p:txBody>
          <a:bodyPr/>
          <a:lstStyle/>
          <a:p>
            <a:fld id="{63289F7E-B80B-496E-81B4-D396C37C9454}" type="datetimeFigureOut">
              <a:rPr lang="pt-BR" smtClean="0"/>
              <a:t>02/08/2026</a:t>
            </a:fld>
            <a:endParaRPr lang="pt-BR"/>
          </a:p>
        </p:txBody>
      </p:sp>
      <p:sp>
        <p:nvSpPr>
          <p:cNvPr id="5" name="Espaço Reservado para Rodapé 4">
            <a:extLst>
              <a:ext uri="{FF2B5EF4-FFF2-40B4-BE49-F238E27FC236}">
                <a16:creationId xmlns:a16="http://schemas.microsoft.com/office/drawing/2014/main" id="{C1DD0F41-C861-4051-988D-3024A37A4B93}"/>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07E5967E-D980-431A-A5DB-3F0C5030A81E}"/>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64975428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1BD44A5-8F21-4626-A01D-48A1C874B1D5}"/>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id="{B79E8085-65A9-48AA-951D-71D978BFF4ED}"/>
              </a:ext>
            </a:extLst>
          </p:cNvPr>
          <p:cNvSpPr>
            <a:spLocks noGrp="1"/>
          </p:cNvSpPr>
          <p:nvPr>
            <p:ph idx="1"/>
          </p:nvPr>
        </p:nvSpPr>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F05BE1AF-51EA-425D-B188-DE7BD675009F}"/>
              </a:ext>
            </a:extLst>
          </p:cNvPr>
          <p:cNvSpPr>
            <a:spLocks noGrp="1"/>
          </p:cNvSpPr>
          <p:nvPr>
            <p:ph type="dt" sz="half" idx="10"/>
          </p:nvPr>
        </p:nvSpPr>
        <p:spPr/>
        <p:txBody>
          <a:bodyPr/>
          <a:lstStyle/>
          <a:p>
            <a:fld id="{63289F7E-B80B-496E-81B4-D396C37C9454}" type="datetimeFigureOut">
              <a:rPr lang="pt-BR" smtClean="0"/>
              <a:t>02/08/2026</a:t>
            </a:fld>
            <a:endParaRPr lang="pt-BR"/>
          </a:p>
        </p:txBody>
      </p:sp>
      <p:sp>
        <p:nvSpPr>
          <p:cNvPr id="5" name="Espaço Reservado para Rodapé 4">
            <a:extLst>
              <a:ext uri="{FF2B5EF4-FFF2-40B4-BE49-F238E27FC236}">
                <a16:creationId xmlns:a16="http://schemas.microsoft.com/office/drawing/2014/main" id="{121BE632-29CF-4CB9-B365-C9EF38F89BE6}"/>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60CF3DD1-9AEC-4A57-B461-4E4DD86FAC1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68790795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Cabeçalho da Se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4AB2FF0-A4D7-4E28-991D-FF26140D5988}"/>
              </a:ext>
            </a:extLst>
          </p:cNvPr>
          <p:cNvSpPr>
            <a:spLocks noGrp="1"/>
          </p:cNvSpPr>
          <p:nvPr>
            <p:ph type="title"/>
          </p:nvPr>
        </p:nvSpPr>
        <p:spPr>
          <a:xfrm>
            <a:off x="831850" y="1709738"/>
            <a:ext cx="10515600" cy="2852737"/>
          </a:xfrm>
        </p:spPr>
        <p:txBody>
          <a:bodyPr anchor="b"/>
          <a:lstStyle>
            <a:lvl1pPr>
              <a:defRPr sz="6000"/>
            </a:lvl1pPr>
          </a:lstStyle>
          <a:p>
            <a:r>
              <a:rPr lang="pt-BR"/>
              <a:t>Clique para editar o título Mestre</a:t>
            </a:r>
          </a:p>
        </p:txBody>
      </p:sp>
      <p:sp>
        <p:nvSpPr>
          <p:cNvPr id="3" name="Espaço Reservado para Texto 2">
            <a:extLst>
              <a:ext uri="{FF2B5EF4-FFF2-40B4-BE49-F238E27FC236}">
                <a16:creationId xmlns:a16="http://schemas.microsoft.com/office/drawing/2014/main" id="{E2AC45B0-4145-40DB-8E61-105461170604}"/>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pt-BR"/>
              <a:t>Editar estilos de texto Mestre</a:t>
            </a:r>
          </a:p>
        </p:txBody>
      </p:sp>
      <p:sp>
        <p:nvSpPr>
          <p:cNvPr id="4" name="Espaço Reservado para Data 3">
            <a:extLst>
              <a:ext uri="{FF2B5EF4-FFF2-40B4-BE49-F238E27FC236}">
                <a16:creationId xmlns:a16="http://schemas.microsoft.com/office/drawing/2014/main" id="{50F1D3FB-740A-4EBA-A309-2CE71D12ECFB}"/>
              </a:ext>
            </a:extLst>
          </p:cNvPr>
          <p:cNvSpPr>
            <a:spLocks noGrp="1"/>
          </p:cNvSpPr>
          <p:nvPr>
            <p:ph type="dt" sz="half" idx="10"/>
          </p:nvPr>
        </p:nvSpPr>
        <p:spPr/>
        <p:txBody>
          <a:bodyPr/>
          <a:lstStyle/>
          <a:p>
            <a:fld id="{63289F7E-B80B-496E-81B4-D396C37C9454}" type="datetimeFigureOut">
              <a:rPr lang="pt-BR" smtClean="0"/>
              <a:t>02/08/2026</a:t>
            </a:fld>
            <a:endParaRPr lang="pt-BR"/>
          </a:p>
        </p:txBody>
      </p:sp>
      <p:sp>
        <p:nvSpPr>
          <p:cNvPr id="5" name="Espaço Reservado para Rodapé 4">
            <a:extLst>
              <a:ext uri="{FF2B5EF4-FFF2-40B4-BE49-F238E27FC236}">
                <a16:creationId xmlns:a16="http://schemas.microsoft.com/office/drawing/2014/main" id="{BDCAB18F-8715-4465-A940-F9C193A2ACE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353466C6-8248-429F-8056-FF040BF509EB}"/>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46522791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uas Partes d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C7BB9F0-F14B-4A91-B2B7-35BC47FE4DE7}"/>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id="{EC1FC1C4-73DA-47A6-8496-B0B457F7D39A}"/>
              </a:ext>
            </a:extLst>
          </p:cNvPr>
          <p:cNvSpPr>
            <a:spLocks noGrp="1"/>
          </p:cNvSpPr>
          <p:nvPr>
            <p:ph sz="half" idx="1"/>
          </p:nvPr>
        </p:nvSpPr>
        <p:spPr>
          <a:xfrm>
            <a:off x="838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Conteúdo 3">
            <a:extLst>
              <a:ext uri="{FF2B5EF4-FFF2-40B4-BE49-F238E27FC236}">
                <a16:creationId xmlns:a16="http://schemas.microsoft.com/office/drawing/2014/main" id="{E92F06A8-A449-4D92-9912-76873E529B38}"/>
              </a:ext>
            </a:extLst>
          </p:cNvPr>
          <p:cNvSpPr>
            <a:spLocks noGrp="1"/>
          </p:cNvSpPr>
          <p:nvPr>
            <p:ph sz="half" idx="2"/>
          </p:nvPr>
        </p:nvSpPr>
        <p:spPr>
          <a:xfrm>
            <a:off x="6172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Data 4">
            <a:extLst>
              <a:ext uri="{FF2B5EF4-FFF2-40B4-BE49-F238E27FC236}">
                <a16:creationId xmlns:a16="http://schemas.microsoft.com/office/drawing/2014/main" id="{938070A4-BC2F-4D55-BD8D-DEAF11BB9EE9}"/>
              </a:ext>
            </a:extLst>
          </p:cNvPr>
          <p:cNvSpPr>
            <a:spLocks noGrp="1"/>
          </p:cNvSpPr>
          <p:nvPr>
            <p:ph type="dt" sz="half" idx="10"/>
          </p:nvPr>
        </p:nvSpPr>
        <p:spPr/>
        <p:txBody>
          <a:bodyPr/>
          <a:lstStyle/>
          <a:p>
            <a:fld id="{63289F7E-B80B-496E-81B4-D396C37C9454}" type="datetimeFigureOut">
              <a:rPr lang="pt-BR" smtClean="0"/>
              <a:t>02/08/2026</a:t>
            </a:fld>
            <a:endParaRPr lang="pt-BR"/>
          </a:p>
        </p:txBody>
      </p:sp>
      <p:sp>
        <p:nvSpPr>
          <p:cNvPr id="6" name="Espaço Reservado para Rodapé 5">
            <a:extLst>
              <a:ext uri="{FF2B5EF4-FFF2-40B4-BE49-F238E27FC236}">
                <a16:creationId xmlns:a16="http://schemas.microsoft.com/office/drawing/2014/main" id="{45CC2DB8-844A-465F-BA9A-7734C80C7F43}"/>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4CC606A8-097B-4040-94E0-CD8C88280D8F}"/>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89854443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6D66686-0143-4CB6-8C09-BA326F1E7ACA}"/>
              </a:ext>
            </a:extLst>
          </p:cNvPr>
          <p:cNvSpPr>
            <a:spLocks noGrp="1"/>
          </p:cNvSpPr>
          <p:nvPr>
            <p:ph type="title"/>
          </p:nvPr>
        </p:nvSpPr>
        <p:spPr>
          <a:xfrm>
            <a:off x="839788" y="365125"/>
            <a:ext cx="10515600" cy="1325563"/>
          </a:xfrm>
        </p:spPr>
        <p:txBody>
          <a:bodyPr/>
          <a:lstStyle/>
          <a:p>
            <a:r>
              <a:rPr lang="pt-BR"/>
              <a:t>Clique para editar o título Mestre</a:t>
            </a:r>
          </a:p>
        </p:txBody>
      </p:sp>
      <p:sp>
        <p:nvSpPr>
          <p:cNvPr id="3" name="Espaço Reservado para Texto 2">
            <a:extLst>
              <a:ext uri="{FF2B5EF4-FFF2-40B4-BE49-F238E27FC236}">
                <a16:creationId xmlns:a16="http://schemas.microsoft.com/office/drawing/2014/main" id="{0227AB85-F59E-4BCE-B846-4FA0992C2F2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4" name="Espaço Reservado para Conteúdo 3">
            <a:extLst>
              <a:ext uri="{FF2B5EF4-FFF2-40B4-BE49-F238E27FC236}">
                <a16:creationId xmlns:a16="http://schemas.microsoft.com/office/drawing/2014/main" id="{3373456C-7319-4D0A-827D-D29F6B083F5D}"/>
              </a:ext>
            </a:extLst>
          </p:cNvPr>
          <p:cNvSpPr>
            <a:spLocks noGrp="1"/>
          </p:cNvSpPr>
          <p:nvPr>
            <p:ph sz="half" idx="2"/>
          </p:nvPr>
        </p:nvSpPr>
        <p:spPr>
          <a:xfrm>
            <a:off x="839788" y="2505075"/>
            <a:ext cx="5157787"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Texto 4">
            <a:extLst>
              <a:ext uri="{FF2B5EF4-FFF2-40B4-BE49-F238E27FC236}">
                <a16:creationId xmlns:a16="http://schemas.microsoft.com/office/drawing/2014/main" id="{4CD109D0-2E83-4262-8029-A871CEC4740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6" name="Espaço Reservado para Conteúdo 5">
            <a:extLst>
              <a:ext uri="{FF2B5EF4-FFF2-40B4-BE49-F238E27FC236}">
                <a16:creationId xmlns:a16="http://schemas.microsoft.com/office/drawing/2014/main" id="{AD706E3A-CFBB-4A6C-A65F-D0360A9E74FE}"/>
              </a:ext>
            </a:extLst>
          </p:cNvPr>
          <p:cNvSpPr>
            <a:spLocks noGrp="1"/>
          </p:cNvSpPr>
          <p:nvPr>
            <p:ph sz="quarter" idx="4"/>
          </p:nvPr>
        </p:nvSpPr>
        <p:spPr>
          <a:xfrm>
            <a:off x="6172200" y="2505075"/>
            <a:ext cx="5183188"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7" name="Espaço Reservado para Data 6">
            <a:extLst>
              <a:ext uri="{FF2B5EF4-FFF2-40B4-BE49-F238E27FC236}">
                <a16:creationId xmlns:a16="http://schemas.microsoft.com/office/drawing/2014/main" id="{4172C0E5-5AF0-4805-BB51-443733CD2BD5}"/>
              </a:ext>
            </a:extLst>
          </p:cNvPr>
          <p:cNvSpPr>
            <a:spLocks noGrp="1"/>
          </p:cNvSpPr>
          <p:nvPr>
            <p:ph type="dt" sz="half" idx="10"/>
          </p:nvPr>
        </p:nvSpPr>
        <p:spPr/>
        <p:txBody>
          <a:bodyPr/>
          <a:lstStyle/>
          <a:p>
            <a:fld id="{63289F7E-B80B-496E-81B4-D396C37C9454}" type="datetimeFigureOut">
              <a:rPr lang="pt-BR" smtClean="0"/>
              <a:t>02/08/2026</a:t>
            </a:fld>
            <a:endParaRPr lang="pt-BR"/>
          </a:p>
        </p:txBody>
      </p:sp>
      <p:sp>
        <p:nvSpPr>
          <p:cNvPr id="8" name="Espaço Reservado para Rodapé 7">
            <a:extLst>
              <a:ext uri="{FF2B5EF4-FFF2-40B4-BE49-F238E27FC236}">
                <a16:creationId xmlns:a16="http://schemas.microsoft.com/office/drawing/2014/main" id="{0E801648-156F-497E-99CF-797DF48051E1}"/>
              </a:ext>
            </a:extLst>
          </p:cNvPr>
          <p:cNvSpPr>
            <a:spLocks noGrp="1"/>
          </p:cNvSpPr>
          <p:nvPr>
            <p:ph type="ftr" sz="quarter" idx="11"/>
          </p:nvPr>
        </p:nvSpPr>
        <p:spPr/>
        <p:txBody>
          <a:bodyPr/>
          <a:lstStyle/>
          <a:p>
            <a:endParaRPr lang="pt-BR"/>
          </a:p>
        </p:txBody>
      </p:sp>
      <p:sp>
        <p:nvSpPr>
          <p:cNvPr id="9" name="Espaço Reservado para Número de Slide 8">
            <a:extLst>
              <a:ext uri="{FF2B5EF4-FFF2-40B4-BE49-F238E27FC236}">
                <a16:creationId xmlns:a16="http://schemas.microsoft.com/office/drawing/2014/main" id="{EEE23D32-80E7-4796-A137-66BF842E4B53}"/>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722454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ment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BCE2379-C78F-47E1-8CFC-B846E7AF148D}"/>
              </a:ext>
            </a:extLst>
          </p:cNvPr>
          <p:cNvSpPr>
            <a:spLocks noGrp="1"/>
          </p:cNvSpPr>
          <p:nvPr>
            <p:ph type="title"/>
          </p:nvPr>
        </p:nvSpPr>
        <p:spPr/>
        <p:txBody>
          <a:bodyPr/>
          <a:lstStyle/>
          <a:p>
            <a:r>
              <a:rPr lang="pt-BR"/>
              <a:t>Clique para editar o título Mestre</a:t>
            </a:r>
          </a:p>
        </p:txBody>
      </p:sp>
      <p:sp>
        <p:nvSpPr>
          <p:cNvPr id="3" name="Espaço Reservado para Data 2">
            <a:extLst>
              <a:ext uri="{FF2B5EF4-FFF2-40B4-BE49-F238E27FC236}">
                <a16:creationId xmlns:a16="http://schemas.microsoft.com/office/drawing/2014/main" id="{342600A9-7F92-4E22-9D94-E4717252A817}"/>
              </a:ext>
            </a:extLst>
          </p:cNvPr>
          <p:cNvSpPr>
            <a:spLocks noGrp="1"/>
          </p:cNvSpPr>
          <p:nvPr>
            <p:ph type="dt" sz="half" idx="10"/>
          </p:nvPr>
        </p:nvSpPr>
        <p:spPr/>
        <p:txBody>
          <a:bodyPr/>
          <a:lstStyle/>
          <a:p>
            <a:fld id="{63289F7E-B80B-496E-81B4-D396C37C9454}" type="datetimeFigureOut">
              <a:rPr lang="pt-BR" smtClean="0"/>
              <a:t>02/08/2026</a:t>
            </a:fld>
            <a:endParaRPr lang="pt-BR"/>
          </a:p>
        </p:txBody>
      </p:sp>
      <p:sp>
        <p:nvSpPr>
          <p:cNvPr id="4" name="Espaço Reservado para Rodapé 3">
            <a:extLst>
              <a:ext uri="{FF2B5EF4-FFF2-40B4-BE49-F238E27FC236}">
                <a16:creationId xmlns:a16="http://schemas.microsoft.com/office/drawing/2014/main" id="{192E6BED-F546-40CC-A2DF-99CBA853654E}"/>
              </a:ext>
            </a:extLst>
          </p:cNvPr>
          <p:cNvSpPr>
            <a:spLocks noGrp="1"/>
          </p:cNvSpPr>
          <p:nvPr>
            <p:ph type="ftr" sz="quarter" idx="11"/>
          </p:nvPr>
        </p:nvSpPr>
        <p:spPr/>
        <p:txBody>
          <a:bodyPr/>
          <a:lstStyle/>
          <a:p>
            <a:endParaRPr lang="pt-BR"/>
          </a:p>
        </p:txBody>
      </p:sp>
      <p:sp>
        <p:nvSpPr>
          <p:cNvPr id="5" name="Espaço Reservado para Número de Slide 4">
            <a:extLst>
              <a:ext uri="{FF2B5EF4-FFF2-40B4-BE49-F238E27FC236}">
                <a16:creationId xmlns:a16="http://schemas.microsoft.com/office/drawing/2014/main" id="{6091CC40-A8C4-4063-80EB-CC509962167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24413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m Branco">
    <p:spTree>
      <p:nvGrpSpPr>
        <p:cNvPr id="1" name=""/>
        <p:cNvGrpSpPr/>
        <p:nvPr/>
      </p:nvGrpSpPr>
      <p:grpSpPr>
        <a:xfrm>
          <a:off x="0" y="0"/>
          <a:ext cx="0" cy="0"/>
          <a:chOff x="0" y="0"/>
          <a:chExt cx="0" cy="0"/>
        </a:xfrm>
      </p:grpSpPr>
      <p:sp>
        <p:nvSpPr>
          <p:cNvPr id="2" name="Espaço Reservado para Data 1">
            <a:extLst>
              <a:ext uri="{FF2B5EF4-FFF2-40B4-BE49-F238E27FC236}">
                <a16:creationId xmlns:a16="http://schemas.microsoft.com/office/drawing/2014/main" id="{DD19515C-212C-4EAE-84A3-8FF4BC844F1B}"/>
              </a:ext>
            </a:extLst>
          </p:cNvPr>
          <p:cNvSpPr>
            <a:spLocks noGrp="1"/>
          </p:cNvSpPr>
          <p:nvPr>
            <p:ph type="dt" sz="half" idx="10"/>
          </p:nvPr>
        </p:nvSpPr>
        <p:spPr/>
        <p:txBody>
          <a:bodyPr/>
          <a:lstStyle/>
          <a:p>
            <a:fld id="{63289F7E-B80B-496E-81B4-D396C37C9454}" type="datetimeFigureOut">
              <a:rPr lang="pt-BR" smtClean="0"/>
              <a:t>02/08/2026</a:t>
            </a:fld>
            <a:endParaRPr lang="pt-BR"/>
          </a:p>
        </p:txBody>
      </p:sp>
      <p:sp>
        <p:nvSpPr>
          <p:cNvPr id="3" name="Espaço Reservado para Rodapé 2">
            <a:extLst>
              <a:ext uri="{FF2B5EF4-FFF2-40B4-BE49-F238E27FC236}">
                <a16:creationId xmlns:a16="http://schemas.microsoft.com/office/drawing/2014/main" id="{94D3D120-B3E8-4C96-861D-7A4F12F49B3A}"/>
              </a:ext>
            </a:extLst>
          </p:cNvPr>
          <p:cNvSpPr>
            <a:spLocks noGrp="1"/>
          </p:cNvSpPr>
          <p:nvPr>
            <p:ph type="ftr" sz="quarter" idx="11"/>
          </p:nvPr>
        </p:nvSpPr>
        <p:spPr/>
        <p:txBody>
          <a:bodyPr/>
          <a:lstStyle/>
          <a:p>
            <a:endParaRPr lang="pt-BR"/>
          </a:p>
        </p:txBody>
      </p:sp>
      <p:sp>
        <p:nvSpPr>
          <p:cNvPr id="4" name="Espaço Reservado para Número de Slide 3">
            <a:extLst>
              <a:ext uri="{FF2B5EF4-FFF2-40B4-BE49-F238E27FC236}">
                <a16:creationId xmlns:a16="http://schemas.microsoft.com/office/drawing/2014/main" id="{42E49B68-FA1B-468B-9F17-D5C09243D454}"/>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1812321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údo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C17BCBE-A897-4319-85EC-D87909C24980}"/>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Conteúdo 2">
            <a:extLst>
              <a:ext uri="{FF2B5EF4-FFF2-40B4-BE49-F238E27FC236}">
                <a16:creationId xmlns:a16="http://schemas.microsoft.com/office/drawing/2014/main" id="{4226F885-0204-4913-868B-4B8B82576F1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Texto 3">
            <a:extLst>
              <a:ext uri="{FF2B5EF4-FFF2-40B4-BE49-F238E27FC236}">
                <a16:creationId xmlns:a16="http://schemas.microsoft.com/office/drawing/2014/main" id="{00F9F784-A858-441B-8AB5-69709814175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id="{A4DC363A-5000-472E-8B17-02E7DCB8840A}"/>
              </a:ext>
            </a:extLst>
          </p:cNvPr>
          <p:cNvSpPr>
            <a:spLocks noGrp="1"/>
          </p:cNvSpPr>
          <p:nvPr>
            <p:ph type="dt" sz="half" idx="10"/>
          </p:nvPr>
        </p:nvSpPr>
        <p:spPr/>
        <p:txBody>
          <a:bodyPr/>
          <a:lstStyle/>
          <a:p>
            <a:fld id="{63289F7E-B80B-496E-81B4-D396C37C9454}" type="datetimeFigureOut">
              <a:rPr lang="pt-BR" smtClean="0"/>
              <a:t>02/08/2026</a:t>
            </a:fld>
            <a:endParaRPr lang="pt-BR"/>
          </a:p>
        </p:txBody>
      </p:sp>
      <p:sp>
        <p:nvSpPr>
          <p:cNvPr id="6" name="Espaço Reservado para Rodapé 5">
            <a:extLst>
              <a:ext uri="{FF2B5EF4-FFF2-40B4-BE49-F238E27FC236}">
                <a16:creationId xmlns:a16="http://schemas.microsoft.com/office/drawing/2014/main" id="{5548425D-2C21-4C56-BAD4-662978775C28}"/>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C63E9726-E64C-42B2-AE8A-8C235A956B4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58861005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m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1086A78-3E74-450C-96A6-CA8AC37AF772}"/>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Imagem 2">
            <a:extLst>
              <a:ext uri="{FF2B5EF4-FFF2-40B4-BE49-F238E27FC236}">
                <a16:creationId xmlns:a16="http://schemas.microsoft.com/office/drawing/2014/main" id="{5F5B7312-975A-4DBC-9B2F-3652ADA006F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pt-BR"/>
          </a:p>
        </p:txBody>
      </p:sp>
      <p:sp>
        <p:nvSpPr>
          <p:cNvPr id="4" name="Espaço Reservado para Texto 3">
            <a:extLst>
              <a:ext uri="{FF2B5EF4-FFF2-40B4-BE49-F238E27FC236}">
                <a16:creationId xmlns:a16="http://schemas.microsoft.com/office/drawing/2014/main" id="{AAF805F5-1DFF-41C6-944C-7D79FE0D096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id="{02113D81-8665-4516-BD81-C6A1F254EECD}"/>
              </a:ext>
            </a:extLst>
          </p:cNvPr>
          <p:cNvSpPr>
            <a:spLocks noGrp="1"/>
          </p:cNvSpPr>
          <p:nvPr>
            <p:ph type="dt" sz="half" idx="10"/>
          </p:nvPr>
        </p:nvSpPr>
        <p:spPr/>
        <p:txBody>
          <a:bodyPr/>
          <a:lstStyle/>
          <a:p>
            <a:fld id="{63289F7E-B80B-496E-81B4-D396C37C9454}" type="datetimeFigureOut">
              <a:rPr lang="pt-BR" smtClean="0"/>
              <a:t>02/08/2026</a:t>
            </a:fld>
            <a:endParaRPr lang="pt-BR"/>
          </a:p>
        </p:txBody>
      </p:sp>
      <p:sp>
        <p:nvSpPr>
          <p:cNvPr id="6" name="Espaço Reservado para Rodapé 5">
            <a:extLst>
              <a:ext uri="{FF2B5EF4-FFF2-40B4-BE49-F238E27FC236}">
                <a16:creationId xmlns:a16="http://schemas.microsoft.com/office/drawing/2014/main" id="{2B00C88B-FF32-40AA-A187-727D96FD7862}"/>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A04D1A2D-69F7-4B8F-A730-BC26DC340BA6}"/>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03464681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e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036C49F-3E68-4175-81BA-3C3FEE44308A}"/>
              </a:ext>
            </a:extLst>
          </p:cNvPr>
          <p:cNvSpPr>
            <a:spLocks noGrp="1"/>
          </p:cNvSpPr>
          <p:nvPr>
            <p:ph type="title"/>
          </p:nvPr>
        </p:nvSpPr>
        <p:spPr/>
        <p:txBody>
          <a:bodyPr/>
          <a:lstStyle/>
          <a:p>
            <a:r>
              <a:rPr lang="pt-BR"/>
              <a:t>Clique para editar o título Mestre</a:t>
            </a:r>
          </a:p>
        </p:txBody>
      </p:sp>
      <p:sp>
        <p:nvSpPr>
          <p:cNvPr id="3" name="Espaço Reservado para Texto Vertical 2">
            <a:extLst>
              <a:ext uri="{FF2B5EF4-FFF2-40B4-BE49-F238E27FC236}">
                <a16:creationId xmlns:a16="http://schemas.microsoft.com/office/drawing/2014/main" id="{426FA736-3DD3-4D4E-B57B-BBE1D8F7D424}"/>
              </a:ext>
            </a:extLst>
          </p:cNvPr>
          <p:cNvSpPr>
            <a:spLocks noGrp="1"/>
          </p:cNvSpPr>
          <p:nvPr>
            <p:ph type="body" orient="vert" idx="1"/>
          </p:nvPr>
        </p:nvSpPr>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99E8855C-D8FD-48F6-B14E-861E0DE4D915}"/>
              </a:ext>
            </a:extLst>
          </p:cNvPr>
          <p:cNvSpPr>
            <a:spLocks noGrp="1"/>
          </p:cNvSpPr>
          <p:nvPr>
            <p:ph type="dt" sz="half" idx="10"/>
          </p:nvPr>
        </p:nvSpPr>
        <p:spPr/>
        <p:txBody>
          <a:bodyPr/>
          <a:lstStyle/>
          <a:p>
            <a:fld id="{63289F7E-B80B-496E-81B4-D396C37C9454}" type="datetimeFigureOut">
              <a:rPr lang="pt-BR" smtClean="0"/>
              <a:t>02/08/2026</a:t>
            </a:fld>
            <a:endParaRPr lang="pt-BR"/>
          </a:p>
        </p:txBody>
      </p:sp>
      <p:sp>
        <p:nvSpPr>
          <p:cNvPr id="5" name="Espaço Reservado para Rodapé 4">
            <a:extLst>
              <a:ext uri="{FF2B5EF4-FFF2-40B4-BE49-F238E27FC236}">
                <a16:creationId xmlns:a16="http://schemas.microsoft.com/office/drawing/2014/main" id="{97C0BB88-2F21-42A5-ACFF-83DA47F2D340}"/>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6CB462B3-1F22-4C05-B4B8-7A279FB7D5E9}"/>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55348157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exto e Título Vertical">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id="{EAEAB728-701C-4207-A9D5-23FF45C60502}"/>
              </a:ext>
            </a:extLst>
          </p:cNvPr>
          <p:cNvSpPr>
            <a:spLocks noGrp="1"/>
          </p:cNvSpPr>
          <p:nvPr>
            <p:ph type="title" orient="vert"/>
          </p:nvPr>
        </p:nvSpPr>
        <p:spPr>
          <a:xfrm>
            <a:off x="8724900" y="365125"/>
            <a:ext cx="2628900" cy="5811838"/>
          </a:xfrm>
        </p:spPr>
        <p:txBody>
          <a:bodyPr vert="eaVert"/>
          <a:lstStyle/>
          <a:p>
            <a:r>
              <a:rPr lang="pt-BR"/>
              <a:t>Clique para editar o título Mestre</a:t>
            </a:r>
          </a:p>
        </p:txBody>
      </p:sp>
      <p:sp>
        <p:nvSpPr>
          <p:cNvPr id="3" name="Espaço Reservado para Texto Vertical 2">
            <a:extLst>
              <a:ext uri="{FF2B5EF4-FFF2-40B4-BE49-F238E27FC236}">
                <a16:creationId xmlns:a16="http://schemas.microsoft.com/office/drawing/2014/main" id="{BA8C8CCF-7823-480A-9A19-0F664DD17E3B}"/>
              </a:ext>
            </a:extLst>
          </p:cNvPr>
          <p:cNvSpPr>
            <a:spLocks noGrp="1"/>
          </p:cNvSpPr>
          <p:nvPr>
            <p:ph type="body" orient="vert" idx="1"/>
          </p:nvPr>
        </p:nvSpPr>
        <p:spPr>
          <a:xfrm>
            <a:off x="838200" y="365125"/>
            <a:ext cx="7734300" cy="5811838"/>
          </a:xfrm>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721D5734-7B1F-425D-942F-6EB73344027C}"/>
              </a:ext>
            </a:extLst>
          </p:cNvPr>
          <p:cNvSpPr>
            <a:spLocks noGrp="1"/>
          </p:cNvSpPr>
          <p:nvPr>
            <p:ph type="dt" sz="half" idx="10"/>
          </p:nvPr>
        </p:nvSpPr>
        <p:spPr/>
        <p:txBody>
          <a:bodyPr/>
          <a:lstStyle/>
          <a:p>
            <a:fld id="{63289F7E-B80B-496E-81B4-D396C37C9454}" type="datetimeFigureOut">
              <a:rPr lang="pt-BR" smtClean="0"/>
              <a:t>02/08/2026</a:t>
            </a:fld>
            <a:endParaRPr lang="pt-BR"/>
          </a:p>
        </p:txBody>
      </p:sp>
      <p:sp>
        <p:nvSpPr>
          <p:cNvPr id="5" name="Espaço Reservado para Rodapé 4">
            <a:extLst>
              <a:ext uri="{FF2B5EF4-FFF2-40B4-BE49-F238E27FC236}">
                <a16:creationId xmlns:a16="http://schemas.microsoft.com/office/drawing/2014/main" id="{1E1AAEAC-F08D-45FE-89EC-B1B349A868C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BAA44493-9911-47B2-87A6-C2141A972BC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182454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Título 1">
            <a:extLst>
              <a:ext uri="{FF2B5EF4-FFF2-40B4-BE49-F238E27FC236}">
                <a16:creationId xmlns:a16="http://schemas.microsoft.com/office/drawing/2014/main" id="{E69A0273-1966-4A1B-9370-4C1CE503637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pt-BR"/>
              <a:t>Clique para editar o título Mestre</a:t>
            </a:r>
          </a:p>
        </p:txBody>
      </p:sp>
      <p:sp>
        <p:nvSpPr>
          <p:cNvPr id="3" name="Espaço Reservado para Texto 2">
            <a:extLst>
              <a:ext uri="{FF2B5EF4-FFF2-40B4-BE49-F238E27FC236}">
                <a16:creationId xmlns:a16="http://schemas.microsoft.com/office/drawing/2014/main" id="{3B9CF87A-0448-49A7-AB25-EBC1D56A40E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2EF7B1F2-BB5A-44D0-816D-16AD2C71430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3289F7E-B80B-496E-81B4-D396C37C9454}" type="datetimeFigureOut">
              <a:rPr lang="pt-BR" smtClean="0"/>
              <a:t>02/08/2026</a:t>
            </a:fld>
            <a:endParaRPr lang="pt-BR"/>
          </a:p>
        </p:txBody>
      </p:sp>
      <p:sp>
        <p:nvSpPr>
          <p:cNvPr id="5" name="Espaço Reservado para Rodapé 4">
            <a:extLst>
              <a:ext uri="{FF2B5EF4-FFF2-40B4-BE49-F238E27FC236}">
                <a16:creationId xmlns:a16="http://schemas.microsoft.com/office/drawing/2014/main" id="{C703F94C-2CC8-4DAA-BC35-14FC3E841DC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pt-BR"/>
          </a:p>
        </p:txBody>
      </p:sp>
      <p:sp>
        <p:nvSpPr>
          <p:cNvPr id="6" name="Espaço Reservado para Número de Slide 5">
            <a:extLst>
              <a:ext uri="{FF2B5EF4-FFF2-40B4-BE49-F238E27FC236}">
                <a16:creationId xmlns:a16="http://schemas.microsoft.com/office/drawing/2014/main" id="{64051336-7048-457A-8B61-D94291D7164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A7E88B7-70CE-4035-AE73-13FA6FB985D4}" type="slidenum">
              <a:rPr lang="pt-BR" smtClean="0"/>
              <a:t>‹nº›</a:t>
            </a:fld>
            <a:endParaRPr lang="pt-BR"/>
          </a:p>
        </p:txBody>
      </p:sp>
    </p:spTree>
    <p:extLst>
      <p:ext uri="{BB962C8B-B14F-4D97-AF65-F5344CB8AC3E}">
        <p14:creationId xmlns:p14="http://schemas.microsoft.com/office/powerpoint/2010/main" val="283629293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jpe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5.png"/><Relationship Id="rId4" Type="http://schemas.openxmlformats.org/officeDocument/2006/relationships/image" Target="../media/image4.png"/></Relationships>
</file>

<file path=ppt/slides/_rels/slide8.xml.rels><?xml version="1.0" encoding="UTF-8" standalone="yes"?>
<Relationships xmlns="http://schemas.openxmlformats.org/package/2006/relationships"><Relationship Id="rId3" Type="http://schemas.openxmlformats.org/officeDocument/2006/relationships/hyperlink" Target="http://tinyurl.com/tp558-seminars" TargetMode="External"/><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hyperlink" Target="http://tinyurl.com/tp558-final-project" TargetMode="External"/></Relationships>
</file>

<file path=ppt/slides/_rels/slide9.xml.rels><?xml version="1.0" encoding="UTF-8" standalone="yes"?>
<Relationships xmlns="http://schemas.openxmlformats.org/package/2006/relationships"><Relationship Id="rId2" Type="http://schemas.openxmlformats.org/officeDocument/2006/relationships/hyperlink" Target="https://docs.google.com/spreadsheets/d/19mypFcuvkspJEsLo58qEa70MwIDpH1KOYqf0OcO_vLI/edit?usp=sharing" TargetMode="Externa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hyperlink" Target="https://keras.io/examples/" TargetMode="External"/><Relationship Id="rId2" Type="http://schemas.openxmlformats.org/officeDocument/2006/relationships/notesSlide" Target="../notesSlides/notesSlide5.xml"/><Relationship Id="rId1" Type="http://schemas.openxmlformats.org/officeDocument/2006/relationships/slideLayout" Target="../slideLayouts/slideLayout2.xml"/><Relationship Id="rId5" Type="http://schemas.openxmlformats.org/officeDocument/2006/relationships/hyperlink" Target="http://tinyurl.com/tp558-books" TargetMode="External"/><Relationship Id="rId4" Type="http://schemas.openxmlformats.org/officeDocument/2006/relationships/hyperlink" Target="https://pytorch.org/examples/" TargetMode="External"/></Relationships>
</file>

<file path=ppt/slides/_rels/slide11.xml.rels><?xml version="1.0" encoding="UTF-8" standalone="yes"?>
<Relationships xmlns="http://schemas.openxmlformats.org/package/2006/relationships"><Relationship Id="rId3" Type="http://schemas.openxmlformats.org/officeDocument/2006/relationships/hyperlink" Target="https://www.youtube.com/watch?v=pq4NNIYar9o&amp;list=PLRc6ZYt68prVXAhwY1JD6DFc3BJGmJriq&amp;pp=gAQBiAQB" TargetMode="External"/><Relationship Id="rId2" Type="http://schemas.openxmlformats.org/officeDocument/2006/relationships/hyperlink" Target="https://github.com/zz4fap/tp558-adv-ml" TargetMode="External"/><Relationship Id="rId1" Type="http://schemas.openxmlformats.org/officeDocument/2006/relationships/slideLayout" Target="../slideLayouts/slideLayout2.xml"/><Relationship Id="rId4" Type="http://schemas.openxmlformats.org/officeDocument/2006/relationships/hyperlink" Target="https://www.youtube.com/watch?v=inN8seMm7UI"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hyperlink" Target="https://keras.io/examples/generative/dcgan_overriding_train_step/" TargetMode="External"/><Relationship Id="rId7" Type="http://schemas.openxmlformats.org/officeDocument/2006/relationships/hyperlink" Target="https://www.tensorflow.org/tutorials/generative/cvae?hl=en" TargetMode="External"/><Relationship Id="rId2" Type="http://schemas.openxmlformats.org/officeDocument/2006/relationships/hyperlink" Target="https://arxiv.org/abs/1511.06434" TargetMode="External"/><Relationship Id="rId1" Type="http://schemas.openxmlformats.org/officeDocument/2006/relationships/slideLayout" Target="../slideLayouts/slideLayout2.xml"/><Relationship Id="rId6" Type="http://schemas.openxmlformats.org/officeDocument/2006/relationships/hyperlink" Target="https://arxiv.org/abs/1312.6114" TargetMode="External"/><Relationship Id="rId5" Type="http://schemas.openxmlformats.org/officeDocument/2006/relationships/hyperlink" Target="https://keras.io/examples/generative/conditional_gan/" TargetMode="External"/><Relationship Id="rId4" Type="http://schemas.openxmlformats.org/officeDocument/2006/relationships/hyperlink" Target="https://arxiv.org/abs/1411.1784" TargetMode="External"/></Relationships>
</file>

<file path=ppt/slides/_rels/slide15.xml.rels><?xml version="1.0" encoding="UTF-8" standalone="yes"?>
<Relationships xmlns="http://schemas.openxmlformats.org/package/2006/relationships"><Relationship Id="rId3" Type="http://schemas.openxmlformats.org/officeDocument/2006/relationships/hyperlink" Target="https://paperswithcode.com/paper/ootdiffusion-outfitting-fusion-based-latent" TargetMode="External"/><Relationship Id="rId2" Type="http://schemas.openxmlformats.org/officeDocument/2006/relationships/hyperlink" Target="https://arxiv.org/abs/2403.01779" TargetMode="External"/><Relationship Id="rId1" Type="http://schemas.openxmlformats.org/officeDocument/2006/relationships/slideLayout" Target="../slideLayouts/slideLayout2.xml"/><Relationship Id="rId5" Type="http://schemas.openxmlformats.org/officeDocument/2006/relationships/hyperlink" Target="https://paperswithcode.com/paper/v3d-video-diffusion-models-are-effective-3d" TargetMode="External"/><Relationship Id="rId4" Type="http://schemas.openxmlformats.org/officeDocument/2006/relationships/hyperlink" Target="https://arxiv.org/abs/2403.06738" TargetMode="External"/></Relationships>
</file>

<file path=ppt/slides/_rels/slide16.xml.rels><?xml version="1.0" encoding="UTF-8" standalone="yes"?>
<Relationships xmlns="http://schemas.openxmlformats.org/package/2006/relationships"><Relationship Id="rId8" Type="http://schemas.openxmlformats.org/officeDocument/2006/relationships/hyperlink" Target="https://arxiv.org/abs/2101.00590" TargetMode="External"/><Relationship Id="rId3" Type="http://schemas.openxmlformats.org/officeDocument/2006/relationships/hyperlink" Target="https://keras.io/examples/vision/image_classification_with_vision_transformer/" TargetMode="External"/><Relationship Id="rId7" Type="http://schemas.openxmlformats.org/officeDocument/2006/relationships/hyperlink" Target="https://keras.io/examples/vision/reptile/" TargetMode="External"/><Relationship Id="rId2" Type="http://schemas.openxmlformats.org/officeDocument/2006/relationships/hyperlink" Target="https://arxiv.org/abs/2010.11929" TargetMode="External"/><Relationship Id="rId1" Type="http://schemas.openxmlformats.org/officeDocument/2006/relationships/slideLayout" Target="../slideLayouts/slideLayout2.xml"/><Relationship Id="rId6" Type="http://schemas.openxmlformats.org/officeDocument/2006/relationships/hyperlink" Target="https://arxiv.org/abs/1803.02999" TargetMode="External"/><Relationship Id="rId5" Type="http://schemas.openxmlformats.org/officeDocument/2006/relationships/hyperlink" Target="https://keras.io/examples/vision/swin_transformers/" TargetMode="External"/><Relationship Id="rId4" Type="http://schemas.openxmlformats.org/officeDocument/2006/relationships/hyperlink" Target="https://arxiv.org/abs/2103.14030" TargetMode="External"/><Relationship Id="rId9" Type="http://schemas.openxmlformats.org/officeDocument/2006/relationships/hyperlink" Target="https://paperswithcode.com/paper/regnet-self-regulated-network-for-image" TargetMode="External"/></Relationships>
</file>

<file path=ppt/slides/_rels/slide17.xml.rels><?xml version="1.0" encoding="UTF-8" standalone="yes"?>
<Relationships xmlns="http://schemas.openxmlformats.org/package/2006/relationships"><Relationship Id="rId3" Type="http://schemas.openxmlformats.org/officeDocument/2006/relationships/hyperlink" Target="https://www.tensorflow.org/tutorials/images/segmentation?hl=pt-br" TargetMode="External"/><Relationship Id="rId2" Type="http://schemas.openxmlformats.org/officeDocument/2006/relationships/hyperlink" Target="https://link.springer.com/chapter/10.1007/978-3-319-24574-4_28" TargetMode="External"/><Relationship Id="rId1" Type="http://schemas.openxmlformats.org/officeDocument/2006/relationships/slideLayout" Target="../slideLayouts/slideLayout2.xml"/><Relationship Id="rId5" Type="http://schemas.openxmlformats.org/officeDocument/2006/relationships/hyperlink" Target="https://keras.io/examples/vision/basnet_segmentation/" TargetMode="External"/><Relationship Id="rId4" Type="http://schemas.openxmlformats.org/officeDocument/2006/relationships/hyperlink" Target="https://arxiv.org/abs/2101.04704" TargetMode="External"/></Relationships>
</file>

<file path=ppt/slides/_rels/slide18.xml.rels><?xml version="1.0" encoding="UTF-8" standalone="yes"?>
<Relationships xmlns="http://schemas.openxmlformats.org/package/2006/relationships"><Relationship Id="rId3" Type="http://schemas.openxmlformats.org/officeDocument/2006/relationships/hyperlink" Target="https://keras.io/examples/vision/yolov8/" TargetMode="External"/><Relationship Id="rId2" Type="http://schemas.openxmlformats.org/officeDocument/2006/relationships/hyperlink" Target="https://www.tensorflow.org/tutorials/images/segmentation?hl=pt-br" TargetMode="External"/><Relationship Id="rId1" Type="http://schemas.openxmlformats.org/officeDocument/2006/relationships/slideLayout" Target="../slideLayouts/slideLayout2.xml"/><Relationship Id="rId4" Type="http://schemas.openxmlformats.org/officeDocument/2006/relationships/hyperlink" Target="https://arxiv.org/abs/2402.13616" TargetMode="External"/></Relationships>
</file>

<file path=ppt/slides/_rels/slide19.xml.rels><?xml version="1.0" encoding="UTF-8" standalone="yes"?>
<Relationships xmlns="http://schemas.openxmlformats.org/package/2006/relationships"><Relationship Id="rId3" Type="http://schemas.openxmlformats.org/officeDocument/2006/relationships/hyperlink" Target="https://keras.io/examples/vision/retinanet/" TargetMode="External"/><Relationship Id="rId7" Type="http://schemas.openxmlformats.org/officeDocument/2006/relationships/hyperlink" Target="https://github.com/lyuwenyu/RT-DETR" TargetMode="External"/><Relationship Id="rId2" Type="http://schemas.openxmlformats.org/officeDocument/2006/relationships/hyperlink" Target="https://keras.io/examples/vision/basnet_segmentation/" TargetMode="External"/><Relationship Id="rId1" Type="http://schemas.openxmlformats.org/officeDocument/2006/relationships/slideLayout" Target="../slideLayouts/slideLayout2.xml"/><Relationship Id="rId6" Type="http://schemas.openxmlformats.org/officeDocument/2006/relationships/hyperlink" Target="https://arxiv.org/abs/2304.08069" TargetMode="External"/><Relationship Id="rId5" Type="http://schemas.openxmlformats.org/officeDocument/2006/relationships/hyperlink" Target="https://docs.edgeimpulse.com/docs/tutorials/end-to-end-tutorials/object-detection/detect-objects-using-fomo" TargetMode="External"/><Relationship Id="rId4" Type="http://schemas.openxmlformats.org/officeDocument/2006/relationships/hyperlink" Target="https://docs.edgeimpulse.com/docs/edge-impulse-studio/learning-blocks/object-detection/fomo-object-detection-for-constrained-devices" TargetMode="External"/></Relationships>
</file>

<file path=ppt/slides/_rels/slide20.xml.rels><?xml version="1.0" encoding="UTF-8" standalone="yes"?>
<Relationships xmlns="http://schemas.openxmlformats.org/package/2006/relationships"><Relationship Id="rId8" Type="http://schemas.openxmlformats.org/officeDocument/2006/relationships/hyperlink" Target="https://keras.io/examples/vision/learnable_resizer/" TargetMode="External"/><Relationship Id="rId3" Type="http://schemas.openxmlformats.org/officeDocument/2006/relationships/hyperlink" Target="https://www.tensorflow.org/tutorials/images/segmentation?hl=pt-br" TargetMode="External"/><Relationship Id="rId7" Type="http://schemas.openxmlformats.org/officeDocument/2006/relationships/hyperlink" Target="https://arxiv.org/abs/2103.09950v1" TargetMode="External"/><Relationship Id="rId2" Type="http://schemas.openxmlformats.org/officeDocument/2006/relationships/hyperlink" Target="https://arxiv.org/abs/2003.06792" TargetMode="External"/><Relationship Id="rId1" Type="http://schemas.openxmlformats.org/officeDocument/2006/relationships/slideLayout" Target="../slideLayouts/slideLayout2.xml"/><Relationship Id="rId6" Type="http://schemas.openxmlformats.org/officeDocument/2006/relationships/hyperlink" Target="https://keras.io/examples/vision/edsr/" TargetMode="External"/><Relationship Id="rId5" Type="http://schemas.openxmlformats.org/officeDocument/2006/relationships/hyperlink" Target="https://arxiv.org/abs/1707.02921" TargetMode="External"/><Relationship Id="rId4" Type="http://schemas.openxmlformats.org/officeDocument/2006/relationships/hyperlink" Target="https://keras.io/examples/vision/mirnet/" TargetMode="External"/></Relationships>
</file>

<file path=ppt/slides/_rels/slide21.xml.rels><?xml version="1.0" encoding="UTF-8" standalone="yes"?>
<Relationships xmlns="http://schemas.openxmlformats.org/package/2006/relationships"><Relationship Id="rId3" Type="http://schemas.openxmlformats.org/officeDocument/2006/relationships/hyperlink" Target="https://paperswithcode.com/paper/triposr-fast-3d-object-reconstruction-from-a" TargetMode="External"/><Relationship Id="rId2" Type="http://schemas.openxmlformats.org/officeDocument/2006/relationships/hyperlink" Target="https://arxiv.org/abs/2403.02151" TargetMode="Externa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8" Type="http://schemas.openxmlformats.org/officeDocument/2006/relationships/hyperlink" Target="https://keras.io/examples/rl/actor_critic_cartpole/" TargetMode="External"/><Relationship Id="rId3" Type="http://schemas.openxmlformats.org/officeDocument/2006/relationships/hyperlink" Target="https://keras.io/examples/rl/deep_q_network_breakout/" TargetMode="External"/><Relationship Id="rId7" Type="http://schemas.openxmlformats.org/officeDocument/2006/relationships/hyperlink" Target="https://inria.hal.science/hal-00840470/document" TargetMode="External"/><Relationship Id="rId2" Type="http://schemas.openxmlformats.org/officeDocument/2006/relationships/hyperlink" Target="https://storage.googleapis.com/deepmind-media/dqn/DQNNaturePaper.pdf" TargetMode="External"/><Relationship Id="rId1" Type="http://schemas.openxmlformats.org/officeDocument/2006/relationships/slideLayout" Target="../slideLayouts/slideLayout2.xml"/><Relationship Id="rId6" Type="http://schemas.openxmlformats.org/officeDocument/2006/relationships/hyperlink" Target="https://keras.io/examples/rl/ddpg_pendulum/" TargetMode="External"/><Relationship Id="rId5" Type="http://schemas.openxmlformats.org/officeDocument/2006/relationships/hyperlink" Target="https://arxiv.org/pdf/1509.02971.pdf" TargetMode="External"/><Relationship Id="rId4" Type="http://schemas.openxmlformats.org/officeDocument/2006/relationships/hyperlink" Target="https://www.tensorflow.org/agents/tutorials/0_intro_rl?hl=pt-br" TargetMode="External"/></Relationships>
</file>

<file path=ppt/slides/_rels/slide23.xml.rels><?xml version="1.0" encoding="UTF-8" standalone="yes"?>
<Relationships xmlns="http://schemas.openxmlformats.org/package/2006/relationships"><Relationship Id="rId3" Type="http://schemas.openxmlformats.org/officeDocument/2006/relationships/hyperlink" Target="https://keras.io/examples/nlp/abstractive_summarization_with_bart/" TargetMode="External"/><Relationship Id="rId2" Type="http://schemas.openxmlformats.org/officeDocument/2006/relationships/hyperlink" Target="https://arxiv.org/abs/1910.13461" TargetMode="External"/><Relationship Id="rId1" Type="http://schemas.openxmlformats.org/officeDocument/2006/relationships/slideLayout" Target="../slideLayouts/slideLayout2.xml"/><Relationship Id="rId6" Type="http://schemas.openxmlformats.org/officeDocument/2006/relationships/hyperlink" Target="https://arxiv.org/abs/1609.03499" TargetMode="External"/><Relationship Id="rId5" Type="http://schemas.openxmlformats.org/officeDocument/2006/relationships/hyperlink" Target="https://keras.io/examples/audio/transformer_asr/" TargetMode="External"/><Relationship Id="rId4" Type="http://schemas.openxmlformats.org/officeDocument/2006/relationships/hyperlink" Target="https://papers.nips.cc/paper/2017/file/3f5ee243547dee91fbd053c1c4a845aa-Paper.pdf" TargetMode="External"/></Relationships>
</file>

<file path=ppt/slides/_rels/slide24.xml.rels><?xml version="1.0" encoding="UTF-8" standalone="yes"?>
<Relationships xmlns="http://schemas.openxmlformats.org/package/2006/relationships"><Relationship Id="rId8" Type="http://schemas.openxmlformats.org/officeDocument/2006/relationships/hyperlink" Target="https://snntorch.readthedocs.io/en/latest/tutorials/index.html" TargetMode="External"/><Relationship Id="rId3" Type="http://schemas.openxmlformats.org/officeDocument/2006/relationships/hyperlink" Target="https://arxiv.org/abs/2101.11174" TargetMode="External"/><Relationship Id="rId7" Type="http://schemas.openxmlformats.org/officeDocument/2006/relationships/hyperlink" Target="https://guillaume-chevalier.com/spiking-neural-network-snn-with-pytorch-where-backpropagation-engenders-stdp-hebbian-learning/" TargetMode="External"/><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hyperlink" Target="https://analyticsindiamag.com/a-tutorial-on-spiking-neural-networks-for-beginners/" TargetMode="External"/><Relationship Id="rId5" Type="http://schemas.openxmlformats.org/officeDocument/2006/relationships/hyperlink" Target="https://arxiv.org/abs/2109.12894" TargetMode="External"/><Relationship Id="rId4" Type="http://schemas.openxmlformats.org/officeDocument/2006/relationships/hyperlink" Target="https://paperswithcode.com/paper/graph-neural-network-for-traffic-forecasting" TargetMode="External"/></Relationships>
</file>

<file path=ppt/slides/_rels/slide25.xml.rels><?xml version="1.0" encoding="UTF-8" standalone="yes"?>
<Relationships xmlns="http://schemas.openxmlformats.org/package/2006/relationships"><Relationship Id="rId8" Type="http://schemas.openxmlformats.org/officeDocument/2006/relationships/hyperlink" Target="https://arxiv.org/abs/2006.04439" TargetMode="External"/><Relationship Id="rId3" Type="http://schemas.openxmlformats.org/officeDocument/2006/relationships/hyperlink" Target="https://paperswithcode.com/paper/towards-deep-learning-models-resistant-to" TargetMode="External"/><Relationship Id="rId7" Type="http://schemas.openxmlformats.org/officeDocument/2006/relationships/hyperlink" Target="https://github.com/Kroery/DiffMOT" TargetMode="External"/><Relationship Id="rId2" Type="http://schemas.openxmlformats.org/officeDocument/2006/relationships/hyperlink" Target="https://arxiv.org/abs/1706.06083" TargetMode="External"/><Relationship Id="rId1" Type="http://schemas.openxmlformats.org/officeDocument/2006/relationships/slideLayout" Target="../slideLayouts/slideLayout2.xml"/><Relationship Id="rId6" Type="http://schemas.openxmlformats.org/officeDocument/2006/relationships/hyperlink" Target="https://arxiv.org/abs/2403.02075" TargetMode="External"/><Relationship Id="rId5" Type="http://schemas.openxmlformats.org/officeDocument/2006/relationships/hyperlink" Target="https://github.com/KindXiaoming/pykan?tab=readme-ov-file" TargetMode="External"/><Relationship Id="rId4" Type="http://schemas.openxmlformats.org/officeDocument/2006/relationships/hyperlink" Target="https://arxiv.org/abs/2404.19756" TargetMode="External"/><Relationship Id="rId9" Type="http://schemas.openxmlformats.org/officeDocument/2006/relationships/hyperlink" Target="https://github.com/raminmh/liquid_time_constant_networks" TargetMode="External"/></Relationships>
</file>

<file path=ppt/slides/_rels/slide26.xml.rels><?xml version="1.0" encoding="UTF-8" standalone="yes"?>
<Relationships xmlns="http://schemas.openxmlformats.org/package/2006/relationships"><Relationship Id="rId8" Type="http://schemas.openxmlformats.org/officeDocument/2006/relationships/hyperlink" Target="https://velo-code.github.io/" TargetMode="External"/><Relationship Id="rId3" Type="http://schemas.openxmlformats.org/officeDocument/2006/relationships/hyperlink" Target="https://arxiv.org/abs/1503.02531" TargetMode="External"/><Relationship Id="rId7" Type="http://schemas.openxmlformats.org/officeDocument/2006/relationships/hyperlink" Target="https://arxiv.org/pdf/2211.09760" TargetMode="External"/><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hyperlink" Target="https://keras.io/examples/vision/gradient_centralization/" TargetMode="External"/><Relationship Id="rId5" Type="http://schemas.openxmlformats.org/officeDocument/2006/relationships/hyperlink" Target="https://arxiv.org/abs/2004.01461" TargetMode="External"/><Relationship Id="rId4" Type="http://schemas.openxmlformats.org/officeDocument/2006/relationships/hyperlink" Target="https://keras.io/examples/vision/knowledge_distillation/"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2666AC8-2E17-4DB4-B0F5-60C640CCFD2E}"/>
              </a:ext>
            </a:extLst>
          </p:cNvPr>
          <p:cNvSpPr>
            <a:spLocks noGrp="1"/>
          </p:cNvSpPr>
          <p:nvPr>
            <p:ph type="ctrTitle"/>
          </p:nvPr>
        </p:nvSpPr>
        <p:spPr>
          <a:xfrm>
            <a:off x="1524000" y="819807"/>
            <a:ext cx="9144000" cy="2690156"/>
          </a:xfrm>
        </p:spPr>
        <p:txBody>
          <a:bodyPr>
            <a:normAutofit/>
          </a:bodyPr>
          <a:lstStyle/>
          <a:p>
            <a:r>
              <a:rPr lang="pt-BR" sz="5400" dirty="0"/>
              <a:t>TP558 - Tópicos avançados em Machine Learning:</a:t>
            </a:r>
            <a:br>
              <a:rPr lang="pt-BR" dirty="0"/>
            </a:br>
            <a:r>
              <a:rPr lang="pt-BR" b="1" i="1" dirty="0"/>
              <a:t>Introdução ao curso</a:t>
            </a:r>
          </a:p>
        </p:txBody>
      </p:sp>
      <p:sp>
        <p:nvSpPr>
          <p:cNvPr id="4" name="CaixaDeTexto 3">
            <a:extLst>
              <a:ext uri="{FF2B5EF4-FFF2-40B4-BE49-F238E27FC236}">
                <a16:creationId xmlns:a16="http://schemas.microsoft.com/office/drawing/2014/main" id="{430EB894-B7D4-434C-9D1A-A14094D9BEEC}"/>
              </a:ext>
            </a:extLst>
          </p:cNvPr>
          <p:cNvSpPr txBox="1"/>
          <p:nvPr/>
        </p:nvSpPr>
        <p:spPr>
          <a:xfrm>
            <a:off x="7915801" y="5780602"/>
            <a:ext cx="4004345" cy="677108"/>
          </a:xfrm>
          <a:prstGeom prst="rect">
            <a:avLst/>
          </a:prstGeom>
          <a:noFill/>
        </p:spPr>
        <p:txBody>
          <a:bodyPr wrap="square" rtlCol="0">
            <a:spAutoFit/>
          </a:bodyPr>
          <a:lstStyle/>
          <a:p>
            <a:r>
              <a:rPr lang="pt-BR" sz="2000" dirty="0"/>
              <a:t>Felipe Augusto Pereira de Figueiredo</a:t>
            </a:r>
          </a:p>
          <a:p>
            <a:r>
              <a:rPr lang="pt-BR" dirty="0"/>
              <a:t>felipe.figueiredo@inatel.br</a:t>
            </a:r>
          </a:p>
        </p:txBody>
      </p:sp>
      <p:pic>
        <p:nvPicPr>
          <p:cNvPr id="1026" name="Picture 2" descr="Logo">
            <a:extLst>
              <a:ext uri="{FF2B5EF4-FFF2-40B4-BE49-F238E27FC236}">
                <a16:creationId xmlns:a16="http://schemas.microsoft.com/office/drawing/2014/main" id="{3F2642E0-4F6A-4196-8F58-E77D36E9A33F}"/>
              </a:ext>
            </a:extLst>
          </p:cNvPr>
          <p:cNvPicPr>
            <a:picLocks noChangeAspect="1" noChangeArrowheads="1"/>
          </p:cNvPicPr>
          <p:nvPr/>
        </p:nvPicPr>
        <p:blipFill rotWithShape="1">
          <a:blip r:embed="rId3" cstate="print">
            <a:extLst>
              <a:ext uri="{28A0092B-C50C-407E-A947-70E740481C1C}">
                <a14:useLocalDpi xmlns:a14="http://schemas.microsoft.com/office/drawing/2010/main" val="0"/>
              </a:ext>
            </a:extLst>
          </a:blip>
          <a:srcRect t="28759" b="28872"/>
          <a:stretch/>
        </p:blipFill>
        <p:spPr bwMode="auto">
          <a:xfrm>
            <a:off x="393306" y="5780602"/>
            <a:ext cx="2261388" cy="677109"/>
          </a:xfrm>
          <a:prstGeom prst="rect">
            <a:avLst/>
          </a:prstGeom>
          <a:noFill/>
          <a:extLst>
            <a:ext uri="{909E8E84-426E-40DD-AFC4-6F175D3DCCD1}">
              <a14:hiddenFill xmlns:a14="http://schemas.microsoft.com/office/drawing/2010/main">
                <a:solidFill>
                  <a:srgbClr val="FFFFFF"/>
                </a:solidFill>
              </a14:hiddenFill>
            </a:ext>
          </a:extLst>
        </p:spPr>
      </p:pic>
      <p:pic>
        <p:nvPicPr>
          <p:cNvPr id="5122" name="Picture 2" descr="Image result for machine learning">
            <a:extLst>
              <a:ext uri="{FF2B5EF4-FFF2-40B4-BE49-F238E27FC236}">
                <a16:creationId xmlns:a16="http://schemas.microsoft.com/office/drawing/2014/main" id="{810CE0A2-4102-44A6-A370-175E7896CDCB}"/>
              </a:ext>
            </a:extLst>
          </p:cNvPr>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l="20193" t="8107" r="14530" b="5794"/>
          <a:stretch/>
        </p:blipFill>
        <p:spPr bwMode="auto">
          <a:xfrm>
            <a:off x="4965305" y="3439886"/>
            <a:ext cx="2261389" cy="223706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8665266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9E7398B-A900-61B5-8621-DCCF26C6973A}"/>
              </a:ext>
            </a:extLst>
          </p:cNvPr>
          <p:cNvSpPr>
            <a:spLocks noGrp="1"/>
          </p:cNvSpPr>
          <p:nvPr>
            <p:ph type="title"/>
          </p:nvPr>
        </p:nvSpPr>
        <p:spPr/>
        <p:txBody>
          <a:bodyPr/>
          <a:lstStyle/>
          <a:p>
            <a:r>
              <a:rPr lang="pt-BR" dirty="0"/>
              <a:t>Sobre o curso</a:t>
            </a:r>
          </a:p>
        </p:txBody>
      </p:sp>
      <p:sp>
        <p:nvSpPr>
          <p:cNvPr id="3" name="Espaço Reservado para Conteúdo 2">
            <a:extLst>
              <a:ext uri="{FF2B5EF4-FFF2-40B4-BE49-F238E27FC236}">
                <a16:creationId xmlns:a16="http://schemas.microsoft.com/office/drawing/2014/main" id="{5954F27A-CDF9-6E72-139C-41301C4C48BE}"/>
              </a:ext>
            </a:extLst>
          </p:cNvPr>
          <p:cNvSpPr>
            <a:spLocks noGrp="1"/>
          </p:cNvSpPr>
          <p:nvPr>
            <p:ph idx="1"/>
          </p:nvPr>
        </p:nvSpPr>
        <p:spPr>
          <a:xfrm>
            <a:off x="838199" y="1825624"/>
            <a:ext cx="11200037" cy="5032375"/>
          </a:xfrm>
        </p:spPr>
        <p:txBody>
          <a:bodyPr>
            <a:normAutofit/>
          </a:bodyPr>
          <a:lstStyle/>
          <a:p>
            <a:r>
              <a:rPr lang="pt-BR" b="0" i="0" u="none" strike="noStrike" dirty="0">
                <a:solidFill>
                  <a:srgbClr val="000000"/>
                </a:solidFill>
                <a:effectLst/>
              </a:rPr>
              <a:t>Curso que oferecerá uma </a:t>
            </a:r>
            <a:r>
              <a:rPr lang="pt-BR" b="1" i="0" u="none" strike="noStrike" dirty="0">
                <a:solidFill>
                  <a:srgbClr val="000000"/>
                </a:solidFill>
                <a:effectLst/>
              </a:rPr>
              <a:t>visão sobre diferentes algoritmos de aprendizado de máquina</a:t>
            </a:r>
            <a:r>
              <a:rPr lang="pt-BR" b="0" i="0" u="none" strike="noStrike" dirty="0">
                <a:solidFill>
                  <a:srgbClr val="000000"/>
                </a:solidFill>
                <a:effectLst/>
              </a:rPr>
              <a:t> (i.e., </a:t>
            </a:r>
            <a:r>
              <a:rPr lang="pt-BR" i="1" dirty="0">
                <a:solidFill>
                  <a:srgbClr val="000000"/>
                </a:solidFill>
              </a:rPr>
              <a:t>m</a:t>
            </a:r>
            <a:r>
              <a:rPr lang="pt-BR" b="0" i="1" u="none" strike="noStrike" dirty="0">
                <a:solidFill>
                  <a:srgbClr val="000000"/>
                </a:solidFill>
                <a:effectLst/>
              </a:rPr>
              <a:t>achin</a:t>
            </a:r>
            <a:r>
              <a:rPr lang="pt-BR" i="1" dirty="0">
                <a:solidFill>
                  <a:srgbClr val="000000"/>
                </a:solidFill>
              </a:rPr>
              <a:t>e l</a:t>
            </a:r>
            <a:r>
              <a:rPr lang="pt-BR" b="0" i="1" u="none" strike="noStrike" dirty="0">
                <a:solidFill>
                  <a:srgbClr val="000000"/>
                </a:solidFill>
                <a:effectLst/>
              </a:rPr>
              <a:t>earning</a:t>
            </a:r>
            <a:r>
              <a:rPr lang="pt-BR" b="0" u="none" strike="noStrike" dirty="0">
                <a:solidFill>
                  <a:srgbClr val="000000"/>
                </a:solidFill>
                <a:effectLst/>
              </a:rPr>
              <a:t> - ML</a:t>
            </a:r>
            <a:r>
              <a:rPr lang="pt-BR" b="0" i="0" u="none" strike="noStrike" dirty="0">
                <a:solidFill>
                  <a:srgbClr val="000000"/>
                </a:solidFill>
                <a:effectLst/>
              </a:rPr>
              <a:t>) e suas </a:t>
            </a:r>
            <a:r>
              <a:rPr lang="pt-BR" b="1" i="0" u="none" strike="noStrike" dirty="0">
                <a:solidFill>
                  <a:srgbClr val="000000"/>
                </a:solidFill>
                <a:effectLst/>
              </a:rPr>
              <a:t>aplicações em diferentes áreas </a:t>
            </a:r>
            <a:r>
              <a:rPr lang="pt-BR" b="0" i="0" u="none" strike="noStrike" dirty="0">
                <a:solidFill>
                  <a:srgbClr val="000000"/>
                </a:solidFill>
                <a:effectLst/>
              </a:rPr>
              <a:t>do conhecimento.</a:t>
            </a:r>
          </a:p>
          <a:p>
            <a:r>
              <a:rPr lang="pt-BR" dirty="0"/>
              <a:t>Cobriremos algoritmos como </a:t>
            </a:r>
          </a:p>
          <a:p>
            <a:pPr lvl="1">
              <a:buFont typeface="Wingdings" panose="05000000000000000000" pitchFamily="2" charset="2"/>
              <a:buChar char="§"/>
            </a:pPr>
            <a:r>
              <a:rPr lang="pt-BR" dirty="0"/>
              <a:t>Redes neurais profundas,</a:t>
            </a:r>
          </a:p>
          <a:p>
            <a:pPr lvl="1">
              <a:buFont typeface="Wingdings" panose="05000000000000000000" pitchFamily="2" charset="2"/>
              <a:buChar char="§"/>
            </a:pPr>
            <a:r>
              <a:rPr lang="pt-BR" dirty="0"/>
              <a:t>Aprendizado por reforço (profundo),</a:t>
            </a:r>
          </a:p>
          <a:p>
            <a:pPr lvl="1">
              <a:buFont typeface="Wingdings" panose="05000000000000000000" pitchFamily="2" charset="2"/>
              <a:buChar char="§"/>
            </a:pPr>
            <a:r>
              <a:rPr lang="pt-BR" dirty="0"/>
              <a:t>Detectores de objetos,</a:t>
            </a:r>
          </a:p>
          <a:p>
            <a:pPr lvl="1">
              <a:buFont typeface="Wingdings" panose="05000000000000000000" pitchFamily="2" charset="2"/>
              <a:buChar char="§"/>
            </a:pPr>
            <a:r>
              <a:rPr lang="pt-BR" dirty="0"/>
              <a:t>Redes generativas, </a:t>
            </a:r>
          </a:p>
          <a:p>
            <a:pPr lvl="1">
              <a:buFont typeface="Wingdings" panose="05000000000000000000" pitchFamily="2" charset="2"/>
              <a:buChar char="§"/>
            </a:pPr>
            <a:r>
              <a:rPr lang="pt-BR" dirty="0"/>
              <a:t>Redes recorrentes, </a:t>
            </a:r>
          </a:p>
          <a:p>
            <a:pPr lvl="1">
              <a:buFont typeface="Wingdings" panose="05000000000000000000" pitchFamily="2" charset="2"/>
              <a:buChar char="§"/>
            </a:pPr>
            <a:r>
              <a:rPr lang="pt-BR" dirty="0"/>
              <a:t>Transformers,</a:t>
            </a:r>
          </a:p>
          <a:p>
            <a:pPr lvl="1">
              <a:buFont typeface="Wingdings" panose="05000000000000000000" pitchFamily="2" charset="2"/>
              <a:buChar char="§"/>
            </a:pPr>
            <a:r>
              <a:rPr lang="pt-BR" dirty="0"/>
              <a:t>Bibliotecas auxiliares (otimização, </a:t>
            </a:r>
            <a:r>
              <a:rPr lang="pt-BR" dirty="0" err="1"/>
              <a:t>AutoML</a:t>
            </a:r>
            <a:r>
              <a:rPr lang="pt-BR" dirty="0"/>
              <a:t>, data augmentation, etc.)</a:t>
            </a:r>
          </a:p>
          <a:p>
            <a:pPr lvl="1">
              <a:buFont typeface="Wingdings" panose="05000000000000000000" pitchFamily="2" charset="2"/>
              <a:buChar char="§"/>
            </a:pPr>
            <a:r>
              <a:rPr lang="pt-BR" dirty="0"/>
              <a:t>etc.</a:t>
            </a:r>
          </a:p>
        </p:txBody>
      </p:sp>
    </p:spTree>
    <p:extLst>
      <p:ext uri="{BB962C8B-B14F-4D97-AF65-F5344CB8AC3E}">
        <p14:creationId xmlns:p14="http://schemas.microsoft.com/office/powerpoint/2010/main" val="317212120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BB4C24F-F8C2-513B-ABC6-F41F972D298C}"/>
              </a:ext>
            </a:extLst>
          </p:cNvPr>
          <p:cNvSpPr>
            <a:spLocks noGrp="1"/>
          </p:cNvSpPr>
          <p:nvPr>
            <p:ph type="title"/>
          </p:nvPr>
        </p:nvSpPr>
        <p:spPr/>
        <p:txBody>
          <a:bodyPr/>
          <a:lstStyle/>
          <a:p>
            <a:r>
              <a:rPr lang="pt-BR" dirty="0"/>
              <a:t>Dinâmica do curso</a:t>
            </a:r>
          </a:p>
        </p:txBody>
      </p:sp>
      <p:sp>
        <p:nvSpPr>
          <p:cNvPr id="3" name="Espaço Reservado para Conteúdo 2">
            <a:extLst>
              <a:ext uri="{FF2B5EF4-FFF2-40B4-BE49-F238E27FC236}">
                <a16:creationId xmlns:a16="http://schemas.microsoft.com/office/drawing/2014/main" id="{39EC605B-82E1-C664-EB15-E7D9A6DF0D17}"/>
              </a:ext>
            </a:extLst>
          </p:cNvPr>
          <p:cNvSpPr>
            <a:spLocks noGrp="1"/>
          </p:cNvSpPr>
          <p:nvPr>
            <p:ph idx="1"/>
          </p:nvPr>
        </p:nvSpPr>
        <p:spPr>
          <a:xfrm>
            <a:off x="838199" y="1825624"/>
            <a:ext cx="11107615" cy="5032375"/>
          </a:xfrm>
        </p:spPr>
        <p:txBody>
          <a:bodyPr/>
          <a:lstStyle/>
          <a:p>
            <a:r>
              <a:rPr lang="pt-BR" b="0" i="0" u="none" strike="noStrike" dirty="0">
                <a:solidFill>
                  <a:srgbClr val="000000"/>
                </a:solidFill>
                <a:effectLst/>
              </a:rPr>
              <a:t>O curso será </a:t>
            </a:r>
            <a:r>
              <a:rPr lang="pt-BR" b="1" i="1" u="none" strike="noStrike" dirty="0">
                <a:solidFill>
                  <a:srgbClr val="00B050"/>
                </a:solidFill>
                <a:effectLst/>
              </a:rPr>
              <a:t>dividido em vários seminários </a:t>
            </a:r>
            <a:r>
              <a:rPr lang="pt-BR" b="1" i="1" u="none" strike="noStrike" dirty="0">
                <a:solidFill>
                  <a:schemeClr val="accent2"/>
                </a:solidFill>
                <a:effectLst/>
              </a:rPr>
              <a:t>preparados e apresentados pelos alunos</a:t>
            </a:r>
            <a:r>
              <a:rPr lang="pt-BR" b="0" i="0" u="none" strike="noStrike" dirty="0">
                <a:solidFill>
                  <a:srgbClr val="000000"/>
                </a:solidFill>
                <a:effectLst/>
              </a:rPr>
              <a:t>, cada um </a:t>
            </a:r>
            <a:r>
              <a:rPr lang="pt-BR" dirty="0">
                <a:solidFill>
                  <a:srgbClr val="000000"/>
                </a:solidFill>
              </a:rPr>
              <a:t>apresentando um trabalho (e.g., um artigo) diferente</a:t>
            </a:r>
            <a:r>
              <a:rPr lang="pt-BR" b="0" i="0" u="none" strike="noStrike" dirty="0">
                <a:solidFill>
                  <a:srgbClr val="000000"/>
                </a:solidFill>
                <a:effectLst/>
              </a:rPr>
              <a:t>.</a:t>
            </a:r>
          </a:p>
          <a:p>
            <a:r>
              <a:rPr lang="pt-BR" dirty="0">
                <a:solidFill>
                  <a:srgbClr val="000000"/>
                </a:solidFill>
              </a:rPr>
              <a:t>Ao final de cada seminário, os </a:t>
            </a:r>
            <a:r>
              <a:rPr lang="pt-BR" b="1" i="1" dirty="0">
                <a:solidFill>
                  <a:srgbClr val="00B050"/>
                </a:solidFill>
              </a:rPr>
              <a:t>demais alunos deverão responder a um </a:t>
            </a:r>
            <a:r>
              <a:rPr lang="pt-BR" b="1" i="1" dirty="0">
                <a:solidFill>
                  <a:schemeClr val="accent2"/>
                </a:solidFill>
              </a:rPr>
              <a:t>quiz</a:t>
            </a:r>
            <a:r>
              <a:rPr lang="pt-BR" dirty="0">
                <a:solidFill>
                  <a:srgbClr val="000000"/>
                </a:solidFill>
              </a:rPr>
              <a:t>, preparado pelo apresentador, sobre o artigo apresentado.</a:t>
            </a:r>
          </a:p>
          <a:p>
            <a:r>
              <a:rPr lang="pt-BR" dirty="0">
                <a:solidFill>
                  <a:srgbClr val="000000"/>
                </a:solidFill>
              </a:rPr>
              <a:t>Ao final do curso, os </a:t>
            </a:r>
            <a:r>
              <a:rPr lang="pt-BR" b="1" i="1" dirty="0">
                <a:solidFill>
                  <a:srgbClr val="00B050"/>
                </a:solidFill>
              </a:rPr>
              <a:t>alunos deverão apresentar um </a:t>
            </a:r>
            <a:r>
              <a:rPr lang="pt-BR" b="1" i="1" dirty="0">
                <a:solidFill>
                  <a:schemeClr val="accent2"/>
                </a:solidFill>
              </a:rPr>
              <a:t>projeto final</a:t>
            </a:r>
            <a:r>
              <a:rPr lang="pt-BR" dirty="0">
                <a:solidFill>
                  <a:srgbClr val="000000"/>
                </a:solidFill>
              </a:rPr>
              <a:t>, incluindo um </a:t>
            </a:r>
            <a:r>
              <a:rPr lang="pt-BR" b="1" i="1" dirty="0">
                <a:solidFill>
                  <a:srgbClr val="00B050"/>
                </a:solidFill>
              </a:rPr>
              <a:t>relatório em formato de </a:t>
            </a:r>
            <a:r>
              <a:rPr lang="pt-BR" b="1" i="1" dirty="0">
                <a:solidFill>
                  <a:schemeClr val="accent2"/>
                </a:solidFill>
              </a:rPr>
              <a:t>artigo científico</a:t>
            </a:r>
            <a:r>
              <a:rPr lang="pt-BR" dirty="0">
                <a:solidFill>
                  <a:srgbClr val="000000"/>
                </a:solidFill>
              </a:rPr>
              <a:t>, envolvendo a aplicação de um algoritmo de ML a um problema de sua escolha (</a:t>
            </a:r>
            <a:r>
              <a:rPr lang="pt-BR" b="1" i="1" dirty="0">
                <a:solidFill>
                  <a:srgbClr val="00B050"/>
                </a:solidFill>
              </a:rPr>
              <a:t>de preferência, alinhado à sua pesquisa</a:t>
            </a:r>
            <a:r>
              <a:rPr lang="pt-BR" dirty="0">
                <a:solidFill>
                  <a:srgbClr val="000000"/>
                </a:solidFill>
              </a:rPr>
              <a:t>).</a:t>
            </a:r>
          </a:p>
          <a:p>
            <a:pPr lvl="1">
              <a:buFont typeface="Wingdings" panose="05000000000000000000" pitchFamily="2" charset="2"/>
              <a:buChar char="§"/>
            </a:pPr>
            <a:endParaRPr lang="pt-BR" b="0" i="0" u="none" strike="noStrike" dirty="0">
              <a:solidFill>
                <a:srgbClr val="000000"/>
              </a:solidFill>
              <a:effectLst/>
            </a:endParaRPr>
          </a:p>
        </p:txBody>
      </p:sp>
    </p:spTree>
    <p:extLst>
      <p:ext uri="{BB962C8B-B14F-4D97-AF65-F5344CB8AC3E}">
        <p14:creationId xmlns:p14="http://schemas.microsoft.com/office/powerpoint/2010/main" val="323555521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A265F83-0504-EFF3-ACD5-719CAEB5BA41}"/>
              </a:ext>
            </a:extLst>
          </p:cNvPr>
          <p:cNvSpPr>
            <a:spLocks noGrp="1"/>
          </p:cNvSpPr>
          <p:nvPr>
            <p:ph type="title"/>
          </p:nvPr>
        </p:nvSpPr>
        <p:spPr/>
        <p:txBody>
          <a:bodyPr/>
          <a:lstStyle/>
          <a:p>
            <a:r>
              <a:rPr lang="pt-BR" dirty="0"/>
              <a:t>Objetivos do curso</a:t>
            </a:r>
          </a:p>
        </p:txBody>
      </p:sp>
      <p:sp>
        <p:nvSpPr>
          <p:cNvPr id="3" name="Espaço Reservado para Conteúdo 2">
            <a:extLst>
              <a:ext uri="{FF2B5EF4-FFF2-40B4-BE49-F238E27FC236}">
                <a16:creationId xmlns:a16="http://schemas.microsoft.com/office/drawing/2014/main" id="{7E37BEAB-D924-8E11-EA13-C019C32409D7}"/>
              </a:ext>
            </a:extLst>
          </p:cNvPr>
          <p:cNvSpPr>
            <a:spLocks noGrp="1"/>
          </p:cNvSpPr>
          <p:nvPr>
            <p:ph idx="1"/>
          </p:nvPr>
        </p:nvSpPr>
        <p:spPr>
          <a:xfrm>
            <a:off x="838200" y="1825624"/>
            <a:ext cx="11154508" cy="5032375"/>
          </a:xfrm>
        </p:spPr>
        <p:txBody>
          <a:bodyPr>
            <a:normAutofit/>
          </a:bodyPr>
          <a:lstStyle/>
          <a:p>
            <a:pPr algn="just">
              <a:spcBef>
                <a:spcPts val="0"/>
              </a:spcBef>
            </a:pPr>
            <a:r>
              <a:rPr lang="pt-BR" b="0" i="0" u="none" strike="noStrike" dirty="0">
                <a:solidFill>
                  <a:srgbClr val="000000"/>
                </a:solidFill>
                <a:effectLst/>
              </a:rPr>
              <a:t>Tornar os alunos capazes de </a:t>
            </a:r>
            <a:r>
              <a:rPr lang="pt-BR" b="1" i="1" u="none" strike="noStrike" dirty="0">
                <a:solidFill>
                  <a:schemeClr val="accent2"/>
                </a:solidFill>
                <a:effectLst/>
              </a:rPr>
              <a:t>entender e aplicar na prática </a:t>
            </a:r>
            <a:r>
              <a:rPr lang="pt-BR" b="0" i="0" u="none" strike="noStrike" dirty="0">
                <a:solidFill>
                  <a:srgbClr val="000000"/>
                </a:solidFill>
                <a:effectLst/>
              </a:rPr>
              <a:t>os diferentes algoritmos estudados.</a:t>
            </a:r>
          </a:p>
          <a:p>
            <a:pPr algn="just">
              <a:spcBef>
                <a:spcPts val="0"/>
              </a:spcBef>
            </a:pPr>
            <a:r>
              <a:rPr lang="pt-BR" dirty="0">
                <a:solidFill>
                  <a:srgbClr val="000000"/>
                </a:solidFill>
              </a:rPr>
              <a:t>Ambientar os alunos com a </a:t>
            </a:r>
            <a:r>
              <a:rPr lang="pt-BR" b="1" i="1" dirty="0">
                <a:solidFill>
                  <a:schemeClr val="accent2"/>
                </a:solidFill>
              </a:rPr>
              <a:t>leitura de artigos científicos</a:t>
            </a:r>
            <a:r>
              <a:rPr lang="pt-BR" dirty="0">
                <a:solidFill>
                  <a:srgbClr val="000000"/>
                </a:solidFill>
              </a:rPr>
              <a:t>.</a:t>
            </a:r>
            <a:endParaRPr lang="pt-BR" b="0" i="0" u="none" strike="noStrike" dirty="0">
              <a:solidFill>
                <a:srgbClr val="000000"/>
              </a:solidFill>
              <a:effectLst/>
            </a:endParaRPr>
          </a:p>
          <a:p>
            <a:pPr algn="just">
              <a:spcBef>
                <a:spcPts val="0"/>
              </a:spcBef>
            </a:pPr>
            <a:r>
              <a:rPr lang="pt-BR" dirty="0">
                <a:solidFill>
                  <a:srgbClr val="000000"/>
                </a:solidFill>
              </a:rPr>
              <a:t>Preparar os alunos para </a:t>
            </a:r>
            <a:r>
              <a:rPr lang="pt-BR" b="1" i="1" dirty="0">
                <a:solidFill>
                  <a:schemeClr val="accent2"/>
                </a:solidFill>
              </a:rPr>
              <a:t>apresentação de seus trabalhos </a:t>
            </a:r>
            <a:r>
              <a:rPr lang="pt-BR" dirty="0">
                <a:solidFill>
                  <a:srgbClr val="000000"/>
                </a:solidFill>
              </a:rPr>
              <a:t>em conferencias e para suas defesas.</a:t>
            </a:r>
            <a:endParaRPr lang="pt-BR" b="0" i="0" u="none" strike="noStrike" dirty="0">
              <a:solidFill>
                <a:srgbClr val="000000"/>
              </a:solidFill>
              <a:effectLst/>
            </a:endParaRPr>
          </a:p>
        </p:txBody>
      </p:sp>
    </p:spTree>
    <p:extLst>
      <p:ext uri="{BB962C8B-B14F-4D97-AF65-F5344CB8AC3E}">
        <p14:creationId xmlns:p14="http://schemas.microsoft.com/office/powerpoint/2010/main" val="25809046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A265F83-0504-EFF3-ACD5-719CAEB5BA41}"/>
              </a:ext>
            </a:extLst>
          </p:cNvPr>
          <p:cNvSpPr>
            <a:spLocks noGrp="1"/>
          </p:cNvSpPr>
          <p:nvPr>
            <p:ph type="title"/>
          </p:nvPr>
        </p:nvSpPr>
        <p:spPr/>
        <p:txBody>
          <a:bodyPr/>
          <a:lstStyle/>
          <a:p>
            <a:r>
              <a:rPr lang="pt-BR" dirty="0"/>
              <a:t>Pré-requisitos</a:t>
            </a:r>
          </a:p>
        </p:txBody>
      </p:sp>
      <p:sp>
        <p:nvSpPr>
          <p:cNvPr id="3" name="Espaço Reservado para Conteúdo 2">
            <a:extLst>
              <a:ext uri="{FF2B5EF4-FFF2-40B4-BE49-F238E27FC236}">
                <a16:creationId xmlns:a16="http://schemas.microsoft.com/office/drawing/2014/main" id="{7E37BEAB-D924-8E11-EA13-C019C32409D7}"/>
              </a:ext>
            </a:extLst>
          </p:cNvPr>
          <p:cNvSpPr>
            <a:spLocks noGrp="1"/>
          </p:cNvSpPr>
          <p:nvPr>
            <p:ph idx="1"/>
          </p:nvPr>
        </p:nvSpPr>
        <p:spPr>
          <a:xfrm>
            <a:off x="838200" y="1825624"/>
            <a:ext cx="11154508" cy="5032375"/>
          </a:xfrm>
        </p:spPr>
        <p:txBody>
          <a:bodyPr>
            <a:normAutofit/>
          </a:bodyPr>
          <a:lstStyle/>
          <a:p>
            <a:r>
              <a:rPr lang="pt-BR" dirty="0"/>
              <a:t>Disciplinas: TP555 ou TP557;</a:t>
            </a:r>
          </a:p>
          <a:p>
            <a:r>
              <a:rPr lang="pt-BR" dirty="0"/>
              <a:t>Conceitos de </a:t>
            </a:r>
            <a:r>
              <a:rPr lang="pt-BR" b="1" i="1" dirty="0"/>
              <a:t>álgebra linear </a:t>
            </a:r>
            <a:r>
              <a:rPr lang="pt-BR" dirty="0"/>
              <a:t>(e.g., matrizes e vetores), </a:t>
            </a:r>
            <a:r>
              <a:rPr lang="pt-BR" b="1" i="1" dirty="0"/>
              <a:t>cálculo</a:t>
            </a:r>
            <a:r>
              <a:rPr lang="pt-BR" dirty="0"/>
              <a:t> (e.g., algoritmos de otimização, como o gradiente descendente), </a:t>
            </a:r>
            <a:r>
              <a:rPr lang="pt-BR" b="1" i="1" dirty="0"/>
              <a:t>probabilidade e estatística</a:t>
            </a:r>
            <a:r>
              <a:rPr lang="pt-BR" dirty="0"/>
              <a:t> (e.g., distribuições de probabilidade, média, desvio padrão, validação cruzada, testes estatísticos);</a:t>
            </a:r>
          </a:p>
          <a:p>
            <a:r>
              <a:rPr lang="pt-BR" dirty="0"/>
              <a:t>Conhecimento intermediário/avançado de programação em Python.</a:t>
            </a:r>
          </a:p>
          <a:p>
            <a:r>
              <a:rPr lang="pt-BR" dirty="0"/>
              <a:t>Bibliotecas: TensorFlow, </a:t>
            </a:r>
            <a:r>
              <a:rPr lang="pt-BR" dirty="0" err="1"/>
              <a:t>PyTorch</a:t>
            </a:r>
            <a:r>
              <a:rPr lang="pt-BR" dirty="0"/>
              <a:t>, </a:t>
            </a:r>
            <a:r>
              <a:rPr lang="pt-BR" dirty="0" err="1"/>
              <a:t>Optuna</a:t>
            </a:r>
            <a:r>
              <a:rPr lang="pt-BR" dirty="0"/>
              <a:t>/</a:t>
            </a:r>
            <a:r>
              <a:rPr lang="pt-BR" dirty="0" err="1"/>
              <a:t>KerasTuner</a:t>
            </a:r>
            <a:r>
              <a:rPr lang="pt-BR" dirty="0"/>
              <a:t>, </a:t>
            </a:r>
            <a:r>
              <a:rPr lang="pt-BR" dirty="0" err="1"/>
              <a:t>SciKit-Learn</a:t>
            </a:r>
            <a:r>
              <a:rPr lang="pt-BR" dirty="0"/>
              <a:t> e Pandas.</a:t>
            </a:r>
          </a:p>
        </p:txBody>
      </p:sp>
    </p:spTree>
    <p:extLst>
      <p:ext uri="{BB962C8B-B14F-4D97-AF65-F5344CB8AC3E}">
        <p14:creationId xmlns:p14="http://schemas.microsoft.com/office/powerpoint/2010/main" val="190636977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4399CC-3894-D100-1945-D7D23AA96EB1}"/>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424E490C-8C95-5D8F-8A93-456C393F644A}"/>
              </a:ext>
            </a:extLst>
          </p:cNvPr>
          <p:cNvSpPr>
            <a:spLocks noGrp="1"/>
          </p:cNvSpPr>
          <p:nvPr>
            <p:ph type="title"/>
          </p:nvPr>
        </p:nvSpPr>
        <p:spPr/>
        <p:txBody>
          <a:bodyPr/>
          <a:lstStyle/>
          <a:p>
            <a:r>
              <a:rPr lang="pt-BR" dirty="0"/>
              <a:t>Repositório</a:t>
            </a:r>
          </a:p>
        </p:txBody>
      </p:sp>
      <p:sp>
        <p:nvSpPr>
          <p:cNvPr id="3" name="Espaço Reservado para Conteúdo 2">
            <a:extLst>
              <a:ext uri="{FF2B5EF4-FFF2-40B4-BE49-F238E27FC236}">
                <a16:creationId xmlns:a16="http://schemas.microsoft.com/office/drawing/2014/main" id="{D99B10BC-34CB-F110-CB4D-6CF6043930ED}"/>
              </a:ext>
            </a:extLst>
          </p:cNvPr>
          <p:cNvSpPr>
            <a:spLocks noGrp="1"/>
          </p:cNvSpPr>
          <p:nvPr>
            <p:ph idx="1"/>
          </p:nvPr>
        </p:nvSpPr>
        <p:spPr>
          <a:xfrm>
            <a:off x="838200" y="1825624"/>
            <a:ext cx="11154508" cy="5032375"/>
          </a:xfrm>
        </p:spPr>
        <p:txBody>
          <a:bodyPr>
            <a:normAutofit/>
          </a:bodyPr>
          <a:lstStyle/>
          <a:p>
            <a:pPr algn="just">
              <a:spcBef>
                <a:spcPts val="0"/>
              </a:spcBef>
            </a:pPr>
            <a:r>
              <a:rPr lang="pt-BR" dirty="0"/>
              <a:t>Criem um repositório </a:t>
            </a:r>
            <a:r>
              <a:rPr lang="pt-BR" b="1" i="1" dirty="0"/>
              <a:t>público</a:t>
            </a:r>
            <a:r>
              <a:rPr lang="pt-BR" dirty="0"/>
              <a:t> no </a:t>
            </a:r>
            <a:r>
              <a:rPr lang="pt-BR" i="1" dirty="0" err="1"/>
              <a:t>github</a:t>
            </a:r>
            <a:r>
              <a:rPr lang="pt-BR" dirty="0"/>
              <a:t> para armazenar o material gerado durante todo o curso, e.g., materiais dos seminários, proposta de projeto, projeto final, etc.</a:t>
            </a:r>
          </a:p>
          <a:p>
            <a:pPr algn="just">
              <a:spcBef>
                <a:spcPts val="0"/>
              </a:spcBef>
            </a:pPr>
            <a:r>
              <a:rPr lang="pt-BR" dirty="0"/>
              <a:t>Criem </a:t>
            </a:r>
            <a:r>
              <a:rPr lang="pt-BR" b="1" i="1" dirty="0">
                <a:solidFill>
                  <a:srgbClr val="7030A0"/>
                </a:solidFill>
              </a:rPr>
              <a:t>pastas </a:t>
            </a:r>
            <a:r>
              <a:rPr lang="pt-BR" b="1" i="1" dirty="0">
                <a:solidFill>
                  <a:schemeClr val="accent2"/>
                </a:solidFill>
              </a:rPr>
              <a:t>distintas</a:t>
            </a:r>
            <a:r>
              <a:rPr lang="pt-BR" dirty="0"/>
              <a:t> para </a:t>
            </a:r>
          </a:p>
          <a:p>
            <a:pPr lvl="1" algn="just">
              <a:spcBef>
                <a:spcPts val="0"/>
              </a:spcBef>
              <a:buFont typeface="Wingdings" panose="05000000000000000000" pitchFamily="2" charset="2"/>
              <a:buChar char="§"/>
            </a:pPr>
            <a:r>
              <a:rPr lang="pt-BR" dirty="0"/>
              <a:t>cada seminário, </a:t>
            </a:r>
          </a:p>
          <a:p>
            <a:pPr lvl="1" algn="just">
              <a:spcBef>
                <a:spcPts val="0"/>
              </a:spcBef>
              <a:buFont typeface="Wingdings" panose="05000000000000000000" pitchFamily="2" charset="2"/>
              <a:buChar char="§"/>
            </a:pPr>
            <a:r>
              <a:rPr lang="pt-BR" dirty="0"/>
              <a:t>para o projeto final </a:t>
            </a:r>
          </a:p>
          <a:p>
            <a:pPr lvl="1" algn="just">
              <a:spcBef>
                <a:spcPts val="0"/>
              </a:spcBef>
              <a:buFont typeface="Wingdings" panose="05000000000000000000" pitchFamily="2" charset="2"/>
              <a:buChar char="§"/>
            </a:pPr>
            <a:r>
              <a:rPr lang="pt-BR" dirty="0"/>
              <a:t>e qualquer outro material que seja gerado durante o curso.</a:t>
            </a:r>
          </a:p>
          <a:p>
            <a:pPr algn="just">
              <a:spcBef>
                <a:spcPts val="0"/>
              </a:spcBef>
            </a:pPr>
            <a:r>
              <a:rPr lang="pt-BR" b="1" dirty="0">
                <a:solidFill>
                  <a:srgbClr val="FF0000"/>
                </a:solidFill>
              </a:rPr>
              <a:t>Enviem o endereço do repositório para o professor via </a:t>
            </a:r>
            <a:r>
              <a:rPr lang="pt-BR" b="1" dirty="0" err="1">
                <a:solidFill>
                  <a:srgbClr val="FF0000"/>
                </a:solidFill>
              </a:rPr>
              <a:t>email</a:t>
            </a:r>
            <a:r>
              <a:rPr lang="pt-BR" b="1" dirty="0">
                <a:solidFill>
                  <a:srgbClr val="FF0000"/>
                </a:solidFill>
              </a:rPr>
              <a:t>.</a:t>
            </a:r>
          </a:p>
        </p:txBody>
      </p:sp>
    </p:spTree>
    <p:extLst>
      <p:ext uri="{BB962C8B-B14F-4D97-AF65-F5344CB8AC3E}">
        <p14:creationId xmlns:p14="http://schemas.microsoft.com/office/powerpoint/2010/main" val="23802049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0B200E8-E489-1374-DAE1-A01E9DFC93EA}"/>
              </a:ext>
            </a:extLst>
          </p:cNvPr>
          <p:cNvSpPr>
            <a:spLocks noGrp="1"/>
          </p:cNvSpPr>
          <p:nvPr>
            <p:ph type="title"/>
          </p:nvPr>
        </p:nvSpPr>
        <p:spPr/>
        <p:txBody>
          <a:bodyPr/>
          <a:lstStyle/>
          <a:p>
            <a:r>
              <a:rPr lang="pt-BR" dirty="0"/>
              <a:t>Avaliação</a:t>
            </a:r>
          </a:p>
        </p:txBody>
      </p:sp>
      <p:sp>
        <p:nvSpPr>
          <p:cNvPr id="3" name="Espaço Reservado para Conteúdo 2">
            <a:extLst>
              <a:ext uri="{FF2B5EF4-FFF2-40B4-BE49-F238E27FC236}">
                <a16:creationId xmlns:a16="http://schemas.microsoft.com/office/drawing/2014/main" id="{AC84DA0A-C3B3-CCCB-BBDF-CF88E7D56E0D}"/>
              </a:ext>
            </a:extLst>
          </p:cNvPr>
          <p:cNvSpPr>
            <a:spLocks noGrp="1"/>
          </p:cNvSpPr>
          <p:nvPr>
            <p:ph idx="1"/>
          </p:nvPr>
        </p:nvSpPr>
        <p:spPr>
          <a:xfrm>
            <a:off x="838199" y="1825624"/>
            <a:ext cx="10038907" cy="5032376"/>
          </a:xfrm>
        </p:spPr>
        <p:txBody>
          <a:bodyPr>
            <a:normAutofit lnSpcReduction="10000"/>
          </a:bodyPr>
          <a:lstStyle/>
          <a:p>
            <a:pPr fontAlgn="base">
              <a:spcBef>
                <a:spcPts val="0"/>
              </a:spcBef>
            </a:pPr>
            <a:r>
              <a:rPr lang="pt-BR" dirty="0"/>
              <a:t>Seminários (S): 50%</a:t>
            </a:r>
          </a:p>
          <a:p>
            <a:pPr lvl="1" fontAlgn="base">
              <a:spcBef>
                <a:spcPts val="0"/>
              </a:spcBef>
              <a:buFont typeface="Wingdings" panose="05000000000000000000" pitchFamily="2" charset="2"/>
              <a:buChar char="§"/>
            </a:pPr>
            <a:r>
              <a:rPr lang="pt-BR" dirty="0"/>
              <a:t>Cada aluno irá estudar alguns artigos e apresentar aos demais.</a:t>
            </a:r>
          </a:p>
          <a:p>
            <a:pPr lvl="1" fontAlgn="base">
              <a:spcBef>
                <a:spcPts val="0"/>
              </a:spcBef>
              <a:buFont typeface="Wingdings" panose="05000000000000000000" pitchFamily="2" charset="2"/>
              <a:buChar char="§"/>
            </a:pPr>
            <a:r>
              <a:rPr lang="pt-BR" dirty="0"/>
              <a:t>Duas semanas para o estudo e a preparação da apresentação e do quiz.</a:t>
            </a:r>
          </a:p>
          <a:p>
            <a:pPr fontAlgn="base">
              <a:spcBef>
                <a:spcPts val="0"/>
              </a:spcBef>
            </a:pPr>
            <a:r>
              <a:rPr lang="pt-BR" dirty="0"/>
              <a:t>Quizzes (Q): 5%</a:t>
            </a:r>
          </a:p>
          <a:p>
            <a:pPr lvl="1" fontAlgn="base">
              <a:spcBef>
                <a:spcPts val="0"/>
              </a:spcBef>
              <a:buFont typeface="Wingdings" panose="05000000000000000000" pitchFamily="2" charset="2"/>
              <a:buChar char="§"/>
            </a:pPr>
            <a:r>
              <a:rPr lang="pt-BR" dirty="0"/>
              <a:t>Resolução dos quizzes preparados pelos alunos.</a:t>
            </a:r>
          </a:p>
          <a:p>
            <a:pPr fontAlgn="base">
              <a:spcBef>
                <a:spcPts val="0"/>
              </a:spcBef>
            </a:pPr>
            <a:r>
              <a:rPr lang="pt-BR" dirty="0"/>
              <a:t>Proposta do projeto final (PPF): 10%</a:t>
            </a:r>
          </a:p>
          <a:p>
            <a:pPr lvl="1">
              <a:lnSpc>
                <a:spcPct val="100000"/>
              </a:lnSpc>
              <a:spcBef>
                <a:spcPts val="0"/>
              </a:spcBef>
              <a:buFont typeface="Wingdings" panose="05000000000000000000" pitchFamily="2" charset="2"/>
              <a:buChar char="§"/>
            </a:pPr>
            <a:r>
              <a:rPr lang="pt-BR" dirty="0"/>
              <a:t>Proposta de projeto prático com tema escolhido pelos alunos.</a:t>
            </a:r>
          </a:p>
          <a:p>
            <a:pPr lvl="1">
              <a:lnSpc>
                <a:spcPct val="100000"/>
              </a:lnSpc>
              <a:spcBef>
                <a:spcPts val="0"/>
              </a:spcBef>
              <a:buFont typeface="Wingdings" panose="05000000000000000000" pitchFamily="2" charset="2"/>
              <a:buChar char="§"/>
            </a:pPr>
            <a:r>
              <a:rPr lang="pt-BR" dirty="0"/>
              <a:t>Um aluno por projeto.</a:t>
            </a:r>
          </a:p>
          <a:p>
            <a:pPr lvl="1" fontAlgn="base">
              <a:lnSpc>
                <a:spcPct val="100000"/>
              </a:lnSpc>
              <a:spcBef>
                <a:spcPts val="0"/>
              </a:spcBef>
              <a:buFont typeface="Wingdings" panose="05000000000000000000" pitchFamily="2" charset="2"/>
              <a:buChar char="§"/>
            </a:pPr>
            <a:r>
              <a:rPr lang="pt-BR" dirty="0"/>
              <a:t>Prazo de entrega será divulgado no </a:t>
            </a:r>
            <a:r>
              <a:rPr lang="pt-BR" dirty="0" err="1"/>
              <a:t>Teams</a:t>
            </a:r>
            <a:r>
              <a:rPr lang="pt-BR" dirty="0"/>
              <a:t>.</a:t>
            </a:r>
          </a:p>
          <a:p>
            <a:pPr fontAlgn="base">
              <a:spcBef>
                <a:spcPts val="0"/>
              </a:spcBef>
            </a:pPr>
            <a:r>
              <a:rPr lang="pt-BR" dirty="0"/>
              <a:t>Projeto final (PF): 35%</a:t>
            </a:r>
          </a:p>
          <a:p>
            <a:pPr lvl="1" fontAlgn="base">
              <a:spcBef>
                <a:spcPts val="0"/>
              </a:spcBef>
              <a:buFont typeface="Wingdings" panose="05000000000000000000" pitchFamily="2" charset="2"/>
              <a:buChar char="§"/>
            </a:pPr>
            <a:r>
              <a:rPr lang="pt-BR" dirty="0"/>
              <a:t>Entrega de relatório em formato de artigo científico.</a:t>
            </a:r>
          </a:p>
          <a:p>
            <a:pPr lvl="1" fontAlgn="base">
              <a:spcBef>
                <a:spcPts val="0"/>
              </a:spcBef>
              <a:buFont typeface="Wingdings" panose="05000000000000000000" pitchFamily="2" charset="2"/>
              <a:buChar char="§"/>
            </a:pPr>
            <a:r>
              <a:rPr lang="pt-BR" dirty="0"/>
              <a:t>Apresentação na última semana de aula.</a:t>
            </a:r>
          </a:p>
          <a:p>
            <a:pPr marL="0" indent="0" fontAlgn="base">
              <a:spcBef>
                <a:spcPts val="0"/>
              </a:spcBef>
              <a:buNone/>
            </a:pPr>
            <a:endParaRPr lang="pt-BR" dirty="0"/>
          </a:p>
          <a:p>
            <a:pPr marL="0" indent="0" algn="ctr" fontAlgn="base">
              <a:spcBef>
                <a:spcPts val="0"/>
              </a:spcBef>
              <a:buNone/>
            </a:pPr>
            <a:r>
              <a:rPr lang="pt-BR" dirty="0"/>
              <a:t>NF = S*50% + Q*5% + PPF*10% + PF*35%</a:t>
            </a:r>
          </a:p>
        </p:txBody>
      </p:sp>
      <p:pic>
        <p:nvPicPr>
          <p:cNvPr id="4" name="Picture 3">
            <a:extLst>
              <a:ext uri="{FF2B5EF4-FFF2-40B4-BE49-F238E27FC236}">
                <a16:creationId xmlns:a16="http://schemas.microsoft.com/office/drawing/2014/main" id="{63A98931-D4DA-A8C6-E70B-6223235637D2}"/>
              </a:ext>
            </a:extLst>
          </p:cNvPr>
          <p:cNvPicPr>
            <a:picLocks noChangeAspect="1"/>
          </p:cNvPicPr>
          <p:nvPr/>
        </p:nvPicPr>
        <p:blipFill>
          <a:blip r:embed="rId3"/>
          <a:stretch>
            <a:fillRect/>
          </a:stretch>
        </p:blipFill>
        <p:spPr>
          <a:xfrm>
            <a:off x="7473746" y="118268"/>
            <a:ext cx="2514600" cy="1819275"/>
          </a:xfrm>
          <a:prstGeom prst="rect">
            <a:avLst/>
          </a:prstGeom>
        </p:spPr>
      </p:pic>
      <p:pic>
        <p:nvPicPr>
          <p:cNvPr id="5" name="Picture 4">
            <a:extLst>
              <a:ext uri="{FF2B5EF4-FFF2-40B4-BE49-F238E27FC236}">
                <a16:creationId xmlns:a16="http://schemas.microsoft.com/office/drawing/2014/main" id="{0E171FC1-ABD1-9A30-24B9-3B431D21D315}"/>
              </a:ext>
            </a:extLst>
          </p:cNvPr>
          <p:cNvPicPr>
            <a:picLocks noChangeAspect="1"/>
          </p:cNvPicPr>
          <p:nvPr/>
        </p:nvPicPr>
        <p:blipFill>
          <a:blip r:embed="rId4"/>
          <a:stretch>
            <a:fillRect/>
          </a:stretch>
        </p:blipFill>
        <p:spPr>
          <a:xfrm>
            <a:off x="9539518" y="2879232"/>
            <a:ext cx="2533650" cy="1809750"/>
          </a:xfrm>
          <a:prstGeom prst="rect">
            <a:avLst/>
          </a:prstGeom>
        </p:spPr>
      </p:pic>
      <p:pic>
        <p:nvPicPr>
          <p:cNvPr id="6" name="Picture 5">
            <a:extLst>
              <a:ext uri="{FF2B5EF4-FFF2-40B4-BE49-F238E27FC236}">
                <a16:creationId xmlns:a16="http://schemas.microsoft.com/office/drawing/2014/main" id="{4A00239B-9DE4-3C62-31EF-097283BCD829}"/>
              </a:ext>
            </a:extLst>
          </p:cNvPr>
          <p:cNvPicPr>
            <a:picLocks noChangeAspect="1"/>
          </p:cNvPicPr>
          <p:nvPr/>
        </p:nvPicPr>
        <p:blipFill>
          <a:blip r:embed="rId5"/>
          <a:stretch>
            <a:fillRect/>
          </a:stretch>
        </p:blipFill>
        <p:spPr>
          <a:xfrm>
            <a:off x="9084386" y="5074404"/>
            <a:ext cx="2868291" cy="1606243"/>
          </a:xfrm>
          <a:prstGeom prst="rect">
            <a:avLst/>
          </a:prstGeom>
        </p:spPr>
      </p:pic>
    </p:spTree>
    <p:extLst>
      <p:ext uri="{BB962C8B-B14F-4D97-AF65-F5344CB8AC3E}">
        <p14:creationId xmlns:p14="http://schemas.microsoft.com/office/powerpoint/2010/main" val="95014955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81B87840-628C-E82C-47FA-C888AB409B21}"/>
              </a:ext>
            </a:extLst>
          </p:cNvPr>
          <p:cNvSpPr>
            <a:spLocks noGrp="1"/>
          </p:cNvSpPr>
          <p:nvPr>
            <p:ph type="title"/>
          </p:nvPr>
        </p:nvSpPr>
        <p:spPr/>
        <p:txBody>
          <a:bodyPr/>
          <a:lstStyle/>
          <a:p>
            <a:r>
              <a:rPr lang="pt-BR" dirty="0"/>
              <a:t>Instruções sobre os seminários e projeto final</a:t>
            </a:r>
          </a:p>
        </p:txBody>
      </p:sp>
      <p:sp>
        <p:nvSpPr>
          <p:cNvPr id="3" name="Espaço Reservado para Conteúdo 2">
            <a:extLst>
              <a:ext uri="{FF2B5EF4-FFF2-40B4-BE49-F238E27FC236}">
                <a16:creationId xmlns:a16="http://schemas.microsoft.com/office/drawing/2014/main" id="{60B96892-6767-8A98-62CA-E3A197F37080}"/>
              </a:ext>
            </a:extLst>
          </p:cNvPr>
          <p:cNvSpPr>
            <a:spLocks noGrp="1"/>
          </p:cNvSpPr>
          <p:nvPr>
            <p:ph idx="1"/>
          </p:nvPr>
        </p:nvSpPr>
        <p:spPr>
          <a:xfrm>
            <a:off x="838200" y="1825624"/>
            <a:ext cx="11190514" cy="5032375"/>
          </a:xfrm>
        </p:spPr>
        <p:txBody>
          <a:bodyPr/>
          <a:lstStyle/>
          <a:p>
            <a:r>
              <a:rPr lang="pt-BR" dirty="0"/>
              <a:t>Seminários: </a:t>
            </a:r>
            <a:r>
              <a:rPr lang="pt-BR" dirty="0">
                <a:hlinkClick r:id="rId3"/>
              </a:rPr>
              <a:t>http://tinyurl.com/tp558-seminars</a:t>
            </a:r>
            <a:endParaRPr lang="pt-BR" dirty="0"/>
          </a:p>
          <a:p>
            <a:r>
              <a:rPr lang="pt-BR" dirty="0"/>
              <a:t>Projeto final: </a:t>
            </a:r>
            <a:r>
              <a:rPr lang="pt-BR" dirty="0">
                <a:hlinkClick r:id="rId4"/>
              </a:rPr>
              <a:t>http://tinyurl.com/tp558-final-project</a:t>
            </a:r>
            <a:endParaRPr lang="pt-BR" dirty="0"/>
          </a:p>
        </p:txBody>
      </p:sp>
    </p:spTree>
    <p:extLst>
      <p:ext uri="{BB962C8B-B14F-4D97-AF65-F5344CB8AC3E}">
        <p14:creationId xmlns:p14="http://schemas.microsoft.com/office/powerpoint/2010/main" val="197003544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Possíveis temas para os seminários</a:t>
            </a:r>
          </a:p>
        </p:txBody>
      </p:sp>
      <p:sp>
        <p:nvSpPr>
          <p:cNvPr id="3" name="Espaço Reservado para Conteúdo 2"/>
          <p:cNvSpPr>
            <a:spLocks noGrp="1"/>
          </p:cNvSpPr>
          <p:nvPr>
            <p:ph idx="1"/>
          </p:nvPr>
        </p:nvSpPr>
        <p:spPr/>
        <p:txBody>
          <a:bodyPr/>
          <a:lstStyle/>
          <a:p>
            <a:r>
              <a:rPr lang="pt-BR" dirty="0">
                <a:hlinkClick r:id="rId2"/>
              </a:rPr>
              <a:t>https://docs.google.com/spreadsheets/d/19mypFcuvkspJEsLo58qEa70MwIDpH1KOYqf0OcO_vLI/edit?usp=sharing</a:t>
            </a:r>
            <a:endParaRPr lang="pt-BR" dirty="0"/>
          </a:p>
          <a:p>
            <a:r>
              <a:rPr lang="pt-BR" dirty="0"/>
              <a:t>Vocês podem propor outros temas, basta me enviar o artigo de interesse </a:t>
            </a:r>
            <a:r>
              <a:rPr lang="pt-BR" b="1" i="1" dirty="0">
                <a:solidFill>
                  <a:schemeClr val="accent2"/>
                </a:solidFill>
              </a:rPr>
              <a:t>para avaliação</a:t>
            </a:r>
            <a:r>
              <a:rPr lang="pt-BR" dirty="0"/>
              <a:t>.</a:t>
            </a:r>
          </a:p>
        </p:txBody>
      </p:sp>
    </p:spTree>
    <p:extLst>
      <p:ext uri="{BB962C8B-B14F-4D97-AF65-F5344CB8AC3E}">
        <p14:creationId xmlns:p14="http://schemas.microsoft.com/office/powerpoint/2010/main" val="380445738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2A4684C-1159-4F88-A2B1-6BABEDE38C4D}"/>
              </a:ext>
            </a:extLst>
          </p:cNvPr>
          <p:cNvSpPr>
            <a:spLocks noGrp="1"/>
          </p:cNvSpPr>
          <p:nvPr>
            <p:ph type="title"/>
          </p:nvPr>
        </p:nvSpPr>
        <p:spPr/>
        <p:txBody>
          <a:bodyPr/>
          <a:lstStyle/>
          <a:p>
            <a:r>
              <a:rPr lang="pt-BR" dirty="0"/>
              <a:t>Referências</a:t>
            </a:r>
          </a:p>
        </p:txBody>
      </p:sp>
      <p:sp>
        <p:nvSpPr>
          <p:cNvPr id="3" name="Espaço Reservado para Conteúdo 2">
            <a:extLst>
              <a:ext uri="{FF2B5EF4-FFF2-40B4-BE49-F238E27FC236}">
                <a16:creationId xmlns:a16="http://schemas.microsoft.com/office/drawing/2014/main" id="{EC432B31-D382-41FF-BB6B-2ABDD322424B}"/>
              </a:ext>
            </a:extLst>
          </p:cNvPr>
          <p:cNvSpPr>
            <a:spLocks noGrp="1"/>
          </p:cNvSpPr>
          <p:nvPr>
            <p:ph idx="1"/>
          </p:nvPr>
        </p:nvSpPr>
        <p:spPr>
          <a:xfrm>
            <a:off x="838199" y="1648915"/>
            <a:ext cx="11157155" cy="5209085"/>
          </a:xfrm>
        </p:spPr>
        <p:txBody>
          <a:bodyPr>
            <a:noAutofit/>
          </a:bodyPr>
          <a:lstStyle/>
          <a:p>
            <a:pPr marL="0" indent="0">
              <a:spcBef>
                <a:spcPts val="0"/>
              </a:spcBef>
              <a:buNone/>
            </a:pPr>
            <a:r>
              <a:rPr lang="pt-BR" sz="2400" b="0" i="0" u="none" strike="noStrike" dirty="0">
                <a:solidFill>
                  <a:srgbClr val="000000"/>
                </a:solidFill>
                <a:effectLst/>
              </a:rPr>
              <a:t>[1] </a:t>
            </a:r>
            <a:r>
              <a:rPr lang="pt-BR" sz="2400" dirty="0">
                <a:solidFill>
                  <a:srgbClr val="000000"/>
                </a:solidFill>
              </a:rPr>
              <a:t>“Tensorflow </a:t>
            </a:r>
            <a:r>
              <a:rPr lang="pt-BR" sz="2400" dirty="0" err="1">
                <a:solidFill>
                  <a:srgbClr val="000000"/>
                </a:solidFill>
              </a:rPr>
              <a:t>c</a:t>
            </a:r>
            <a:r>
              <a:rPr lang="pt-BR" sz="2400" b="0" i="0" u="none" strike="noStrike" dirty="0" err="1">
                <a:solidFill>
                  <a:srgbClr val="000000"/>
                </a:solidFill>
                <a:effectLst/>
              </a:rPr>
              <a:t>ode</a:t>
            </a:r>
            <a:r>
              <a:rPr lang="pt-BR" sz="2400" b="0" i="0" u="none" strike="noStrike" dirty="0">
                <a:solidFill>
                  <a:srgbClr val="000000"/>
                </a:solidFill>
                <a:effectLst/>
              </a:rPr>
              <a:t> </a:t>
            </a:r>
            <a:r>
              <a:rPr lang="pt-BR" sz="2400" b="0" i="0" u="none" strike="noStrike" dirty="0" err="1">
                <a:solidFill>
                  <a:srgbClr val="000000"/>
                </a:solidFill>
                <a:effectLst/>
              </a:rPr>
              <a:t>examples</a:t>
            </a:r>
            <a:r>
              <a:rPr lang="pt-BR" sz="2400" b="0" i="0" u="none" strike="noStrike" dirty="0">
                <a:solidFill>
                  <a:srgbClr val="000000"/>
                </a:solidFill>
                <a:effectLst/>
              </a:rPr>
              <a:t>”, </a:t>
            </a:r>
            <a:r>
              <a:rPr lang="pt-BR" sz="2400" b="0" i="0" u="none" strike="noStrike" dirty="0">
                <a:solidFill>
                  <a:srgbClr val="000000"/>
                </a:solidFill>
                <a:effectLst/>
                <a:hlinkClick r:id="rId3"/>
              </a:rPr>
              <a:t>https://keras.io/examples/</a:t>
            </a:r>
            <a:endParaRPr lang="pt-BR" sz="2400" b="0" i="0" u="none" strike="noStrike" dirty="0">
              <a:solidFill>
                <a:srgbClr val="000000"/>
              </a:solidFill>
              <a:effectLst/>
            </a:endParaRPr>
          </a:p>
          <a:p>
            <a:pPr marL="0" indent="0">
              <a:spcBef>
                <a:spcPts val="0"/>
              </a:spcBef>
              <a:buNone/>
            </a:pPr>
            <a:r>
              <a:rPr lang="pt-BR" sz="2400" dirty="0">
                <a:solidFill>
                  <a:srgbClr val="000000"/>
                </a:solidFill>
              </a:rPr>
              <a:t>[2] “</a:t>
            </a:r>
            <a:r>
              <a:rPr lang="pt-BR" sz="2400" dirty="0" err="1">
                <a:solidFill>
                  <a:srgbClr val="000000"/>
                </a:solidFill>
              </a:rPr>
              <a:t>Pytorch</a:t>
            </a:r>
            <a:r>
              <a:rPr lang="pt-BR" sz="2400" dirty="0">
                <a:solidFill>
                  <a:srgbClr val="000000"/>
                </a:solidFill>
              </a:rPr>
              <a:t> </a:t>
            </a:r>
            <a:r>
              <a:rPr lang="pt-BR" sz="2400" dirty="0" err="1">
                <a:solidFill>
                  <a:srgbClr val="000000"/>
                </a:solidFill>
              </a:rPr>
              <a:t>code</a:t>
            </a:r>
            <a:r>
              <a:rPr lang="pt-BR" sz="2400" dirty="0">
                <a:solidFill>
                  <a:srgbClr val="000000"/>
                </a:solidFill>
              </a:rPr>
              <a:t> </a:t>
            </a:r>
            <a:r>
              <a:rPr lang="pt-BR" sz="2400" dirty="0" err="1">
                <a:solidFill>
                  <a:srgbClr val="000000"/>
                </a:solidFill>
              </a:rPr>
              <a:t>examples</a:t>
            </a:r>
            <a:r>
              <a:rPr lang="pt-BR" sz="2400" dirty="0">
                <a:solidFill>
                  <a:srgbClr val="000000"/>
                </a:solidFill>
              </a:rPr>
              <a:t>”, </a:t>
            </a:r>
            <a:r>
              <a:rPr lang="pt-BR" sz="2400" dirty="0">
                <a:solidFill>
                  <a:srgbClr val="000000"/>
                </a:solidFill>
                <a:hlinkClick r:id="rId4"/>
              </a:rPr>
              <a:t>https://pytorch.org/examples/</a:t>
            </a:r>
            <a:endParaRPr lang="pt-BR" sz="2400" dirty="0">
              <a:solidFill>
                <a:srgbClr val="000000"/>
              </a:solidFill>
            </a:endParaRPr>
          </a:p>
          <a:p>
            <a:pPr marL="0" indent="0">
              <a:spcBef>
                <a:spcPts val="0"/>
              </a:spcBef>
              <a:buNone/>
            </a:pPr>
            <a:r>
              <a:rPr lang="pt-BR" sz="2400" dirty="0">
                <a:solidFill>
                  <a:srgbClr val="000000"/>
                </a:solidFill>
              </a:rPr>
              <a:t>[3] Sebastian </a:t>
            </a:r>
            <a:r>
              <a:rPr lang="pt-BR" sz="2400" dirty="0" err="1">
                <a:solidFill>
                  <a:srgbClr val="000000"/>
                </a:solidFill>
              </a:rPr>
              <a:t>Raschka</a:t>
            </a:r>
            <a:r>
              <a:rPr lang="pt-BR" sz="2400" dirty="0">
                <a:solidFill>
                  <a:srgbClr val="000000"/>
                </a:solidFill>
              </a:rPr>
              <a:t> </a:t>
            </a:r>
            <a:r>
              <a:rPr lang="pt-BR" sz="2400" dirty="0" err="1">
                <a:solidFill>
                  <a:srgbClr val="000000"/>
                </a:solidFill>
              </a:rPr>
              <a:t>and</a:t>
            </a:r>
            <a:r>
              <a:rPr lang="pt-BR" sz="2400" dirty="0">
                <a:solidFill>
                  <a:srgbClr val="000000"/>
                </a:solidFill>
              </a:rPr>
              <a:t> </a:t>
            </a:r>
            <a:r>
              <a:rPr lang="pt-BR" sz="2400" dirty="0" err="1">
                <a:solidFill>
                  <a:srgbClr val="000000"/>
                </a:solidFill>
              </a:rPr>
              <a:t>Vahid</a:t>
            </a:r>
            <a:r>
              <a:rPr lang="pt-BR" sz="2400" dirty="0">
                <a:solidFill>
                  <a:srgbClr val="000000"/>
                </a:solidFill>
              </a:rPr>
              <a:t> </a:t>
            </a:r>
            <a:r>
              <a:rPr lang="pt-BR" sz="2400" dirty="0" err="1">
                <a:solidFill>
                  <a:srgbClr val="000000"/>
                </a:solidFill>
              </a:rPr>
              <a:t>Mirjalili</a:t>
            </a:r>
            <a:r>
              <a:rPr lang="pt-BR" sz="2400" dirty="0">
                <a:solidFill>
                  <a:srgbClr val="000000"/>
                </a:solidFill>
              </a:rPr>
              <a:t>, “</a:t>
            </a:r>
            <a:r>
              <a:rPr lang="en-US" sz="2400" dirty="0">
                <a:solidFill>
                  <a:srgbClr val="000000"/>
                </a:solidFill>
              </a:rPr>
              <a:t>Python Machine Learning: Machine Learning and Deep Learning with Python, scikit-learn, and TensorFlow 2”, </a:t>
            </a:r>
            <a:r>
              <a:rPr lang="pt-BR" sz="2400" dirty="0" err="1">
                <a:solidFill>
                  <a:srgbClr val="000000"/>
                </a:solidFill>
              </a:rPr>
              <a:t>Packt</a:t>
            </a:r>
            <a:r>
              <a:rPr lang="pt-BR" sz="2400" dirty="0">
                <a:solidFill>
                  <a:srgbClr val="000000"/>
                </a:solidFill>
              </a:rPr>
              <a:t> </a:t>
            </a:r>
            <a:r>
              <a:rPr lang="pt-BR" sz="2400" dirty="0" err="1">
                <a:solidFill>
                  <a:srgbClr val="000000"/>
                </a:solidFill>
              </a:rPr>
              <a:t>Publishing</a:t>
            </a:r>
            <a:r>
              <a:rPr lang="pt-BR" sz="2400" dirty="0">
                <a:solidFill>
                  <a:srgbClr val="000000"/>
                </a:solidFill>
              </a:rPr>
              <a:t>, 2019.</a:t>
            </a:r>
            <a:br>
              <a:rPr lang="en-US" sz="2400" dirty="0">
                <a:solidFill>
                  <a:srgbClr val="000000"/>
                </a:solidFill>
              </a:rPr>
            </a:br>
            <a:r>
              <a:rPr lang="en-US" sz="2400" dirty="0">
                <a:solidFill>
                  <a:srgbClr val="000000"/>
                </a:solidFill>
              </a:rPr>
              <a:t>[4] </a:t>
            </a:r>
            <a:r>
              <a:rPr lang="pt-BR" sz="2400" dirty="0">
                <a:solidFill>
                  <a:srgbClr val="000000"/>
                </a:solidFill>
              </a:rPr>
              <a:t>Ivan </a:t>
            </a:r>
            <a:r>
              <a:rPr lang="pt-BR" sz="2400" dirty="0" err="1">
                <a:solidFill>
                  <a:srgbClr val="000000"/>
                </a:solidFill>
              </a:rPr>
              <a:t>Vasilev</a:t>
            </a:r>
            <a:r>
              <a:rPr lang="pt-BR" sz="2400" dirty="0">
                <a:solidFill>
                  <a:srgbClr val="000000"/>
                </a:solidFill>
              </a:rPr>
              <a:t>, </a:t>
            </a:r>
            <a:r>
              <a:rPr lang="en-US" sz="2400" dirty="0">
                <a:solidFill>
                  <a:srgbClr val="000000"/>
                </a:solidFill>
              </a:rPr>
              <a:t>“Advanced Deep Learning with Python: Design and implement advanced next-generation AI solutions using TensorFlow and </a:t>
            </a:r>
            <a:r>
              <a:rPr lang="en-US" sz="2400" dirty="0" err="1">
                <a:solidFill>
                  <a:srgbClr val="000000"/>
                </a:solidFill>
              </a:rPr>
              <a:t>PyTorch</a:t>
            </a:r>
            <a:r>
              <a:rPr lang="en-US" sz="2400" dirty="0">
                <a:solidFill>
                  <a:srgbClr val="000000"/>
                </a:solidFill>
              </a:rPr>
              <a:t>”, </a:t>
            </a:r>
            <a:r>
              <a:rPr lang="pt-BR" sz="2400" dirty="0" err="1">
                <a:solidFill>
                  <a:srgbClr val="000000"/>
                </a:solidFill>
              </a:rPr>
              <a:t>Packt</a:t>
            </a:r>
            <a:r>
              <a:rPr lang="pt-BR" sz="2400" dirty="0">
                <a:solidFill>
                  <a:srgbClr val="000000"/>
                </a:solidFill>
              </a:rPr>
              <a:t> </a:t>
            </a:r>
            <a:r>
              <a:rPr lang="pt-BR" sz="2400" dirty="0" err="1">
                <a:solidFill>
                  <a:srgbClr val="000000"/>
                </a:solidFill>
              </a:rPr>
              <a:t>Publishing</a:t>
            </a:r>
            <a:r>
              <a:rPr lang="pt-BR" sz="2400" dirty="0">
                <a:solidFill>
                  <a:srgbClr val="000000"/>
                </a:solidFill>
              </a:rPr>
              <a:t>, 2019.</a:t>
            </a:r>
          </a:p>
          <a:p>
            <a:pPr marL="0" indent="0">
              <a:spcBef>
                <a:spcPts val="0"/>
              </a:spcBef>
              <a:buNone/>
            </a:pPr>
            <a:r>
              <a:rPr lang="pt-BR" sz="2400" dirty="0">
                <a:solidFill>
                  <a:srgbClr val="000000"/>
                </a:solidFill>
              </a:rPr>
              <a:t>[5] </a:t>
            </a:r>
            <a:r>
              <a:rPr lang="pt-BR" sz="2400" dirty="0" err="1">
                <a:solidFill>
                  <a:srgbClr val="000000"/>
                </a:solidFill>
              </a:rPr>
              <a:t>Aurélien</a:t>
            </a:r>
            <a:r>
              <a:rPr lang="pt-BR" sz="2400" dirty="0">
                <a:solidFill>
                  <a:srgbClr val="000000"/>
                </a:solidFill>
              </a:rPr>
              <a:t> </a:t>
            </a:r>
            <a:r>
              <a:rPr lang="pt-BR" sz="2400" dirty="0" err="1">
                <a:solidFill>
                  <a:srgbClr val="000000"/>
                </a:solidFill>
              </a:rPr>
              <a:t>Géron</a:t>
            </a:r>
            <a:r>
              <a:rPr lang="pt-BR" sz="2400" dirty="0">
                <a:solidFill>
                  <a:srgbClr val="000000"/>
                </a:solidFill>
              </a:rPr>
              <a:t>, "Hands-On Machine Learning </a:t>
            </a:r>
            <a:r>
              <a:rPr lang="pt-BR" sz="2400" dirty="0" err="1">
                <a:solidFill>
                  <a:srgbClr val="000000"/>
                </a:solidFill>
              </a:rPr>
              <a:t>with</a:t>
            </a:r>
            <a:r>
              <a:rPr lang="pt-BR" sz="2400" dirty="0">
                <a:solidFill>
                  <a:srgbClr val="000000"/>
                </a:solidFill>
              </a:rPr>
              <a:t> </a:t>
            </a:r>
            <a:r>
              <a:rPr lang="pt-BR" sz="2400" dirty="0" err="1">
                <a:solidFill>
                  <a:srgbClr val="000000"/>
                </a:solidFill>
              </a:rPr>
              <a:t>Scikit-Learn</a:t>
            </a:r>
            <a:r>
              <a:rPr lang="pt-BR" sz="2400" dirty="0">
                <a:solidFill>
                  <a:srgbClr val="000000"/>
                </a:solidFill>
              </a:rPr>
              <a:t> </a:t>
            </a:r>
            <a:r>
              <a:rPr lang="pt-BR" sz="2400" dirty="0" err="1">
                <a:solidFill>
                  <a:srgbClr val="000000"/>
                </a:solidFill>
              </a:rPr>
              <a:t>and</a:t>
            </a:r>
            <a:r>
              <a:rPr lang="pt-BR" sz="2400" dirty="0">
                <a:solidFill>
                  <a:srgbClr val="000000"/>
                </a:solidFill>
              </a:rPr>
              <a:t> TensorFlow: </a:t>
            </a:r>
            <a:r>
              <a:rPr lang="pt-BR" sz="2400" dirty="0" err="1">
                <a:solidFill>
                  <a:srgbClr val="000000"/>
                </a:solidFill>
              </a:rPr>
              <a:t>Concepts</a:t>
            </a:r>
            <a:r>
              <a:rPr lang="pt-BR" sz="2400" dirty="0">
                <a:solidFill>
                  <a:srgbClr val="000000"/>
                </a:solidFill>
              </a:rPr>
              <a:t>, Tools, </a:t>
            </a:r>
            <a:r>
              <a:rPr lang="pt-BR" sz="2400" dirty="0" err="1">
                <a:solidFill>
                  <a:srgbClr val="000000"/>
                </a:solidFill>
              </a:rPr>
              <a:t>and</a:t>
            </a:r>
            <a:r>
              <a:rPr lang="pt-BR" sz="2400" dirty="0">
                <a:solidFill>
                  <a:srgbClr val="000000"/>
                </a:solidFill>
              </a:rPr>
              <a:t> </a:t>
            </a:r>
            <a:r>
              <a:rPr lang="pt-BR" sz="2400" dirty="0" err="1">
                <a:solidFill>
                  <a:srgbClr val="000000"/>
                </a:solidFill>
              </a:rPr>
              <a:t>Techniques</a:t>
            </a:r>
            <a:r>
              <a:rPr lang="pt-BR" sz="2400" dirty="0">
                <a:solidFill>
                  <a:srgbClr val="000000"/>
                </a:solidFill>
              </a:rPr>
              <a:t> </a:t>
            </a:r>
            <a:r>
              <a:rPr lang="pt-BR" sz="2400" dirty="0" err="1">
                <a:solidFill>
                  <a:srgbClr val="000000"/>
                </a:solidFill>
              </a:rPr>
              <a:t>to</a:t>
            </a:r>
            <a:r>
              <a:rPr lang="pt-BR" sz="2400" dirty="0">
                <a:solidFill>
                  <a:srgbClr val="000000"/>
                </a:solidFill>
              </a:rPr>
              <a:t> Build </a:t>
            </a:r>
            <a:r>
              <a:rPr lang="pt-BR" sz="2400" dirty="0" err="1">
                <a:solidFill>
                  <a:srgbClr val="000000"/>
                </a:solidFill>
              </a:rPr>
              <a:t>Intelligent</a:t>
            </a:r>
            <a:r>
              <a:rPr lang="pt-BR" sz="2400" dirty="0">
                <a:solidFill>
                  <a:srgbClr val="000000"/>
                </a:solidFill>
              </a:rPr>
              <a:t> Systems", 3rd ed., O'Reilly Media, 2022.</a:t>
            </a:r>
          </a:p>
          <a:p>
            <a:pPr marL="0" indent="0">
              <a:spcBef>
                <a:spcPts val="0"/>
              </a:spcBef>
              <a:buNone/>
            </a:pPr>
            <a:r>
              <a:rPr lang="en-US" sz="2400" dirty="0">
                <a:solidFill>
                  <a:srgbClr val="000000"/>
                </a:solidFill>
              </a:rPr>
              <a:t>[6] </a:t>
            </a:r>
            <a:r>
              <a:rPr lang="en-US" sz="2400" dirty="0" err="1">
                <a:solidFill>
                  <a:srgbClr val="000000"/>
                </a:solidFill>
              </a:rPr>
              <a:t>Raschka</a:t>
            </a:r>
            <a:r>
              <a:rPr lang="en-US" sz="2400" dirty="0">
                <a:solidFill>
                  <a:srgbClr val="000000"/>
                </a:solidFill>
              </a:rPr>
              <a:t>, Sebastian, et al., “Machine Learning with </a:t>
            </a:r>
            <a:r>
              <a:rPr lang="en-US" sz="2400" dirty="0" err="1">
                <a:solidFill>
                  <a:srgbClr val="000000"/>
                </a:solidFill>
              </a:rPr>
              <a:t>PyTorch</a:t>
            </a:r>
            <a:r>
              <a:rPr lang="en-US" sz="2400" dirty="0">
                <a:solidFill>
                  <a:srgbClr val="000000"/>
                </a:solidFill>
              </a:rPr>
              <a:t> and Scikit-Learn: Develop machine learning and deep learning models with Python”, </a:t>
            </a:r>
            <a:r>
              <a:rPr lang="en-US" sz="2400" dirty="0" err="1">
                <a:solidFill>
                  <a:srgbClr val="000000"/>
                </a:solidFill>
              </a:rPr>
              <a:t>Packt</a:t>
            </a:r>
            <a:r>
              <a:rPr lang="en-US" sz="2400" dirty="0">
                <a:solidFill>
                  <a:srgbClr val="000000"/>
                </a:solidFill>
              </a:rPr>
              <a:t> Publishing Ltd, 2022.</a:t>
            </a:r>
            <a:endParaRPr lang="pt-BR" sz="2400" dirty="0">
              <a:solidFill>
                <a:srgbClr val="000000"/>
              </a:solidFill>
            </a:endParaRPr>
          </a:p>
          <a:p>
            <a:pPr marL="0" indent="0">
              <a:spcBef>
                <a:spcPts val="0"/>
              </a:spcBef>
              <a:buNone/>
            </a:pPr>
            <a:r>
              <a:rPr lang="pt-BR" sz="2400" dirty="0">
                <a:solidFill>
                  <a:srgbClr val="000000"/>
                </a:solidFill>
              </a:rPr>
              <a:t>[7] C. M. Bishop, "</a:t>
            </a:r>
            <a:r>
              <a:rPr lang="pt-BR" sz="2400" dirty="0" err="1">
                <a:solidFill>
                  <a:srgbClr val="000000"/>
                </a:solidFill>
              </a:rPr>
              <a:t>Pattern</a:t>
            </a:r>
            <a:r>
              <a:rPr lang="pt-BR" sz="2400" dirty="0">
                <a:solidFill>
                  <a:srgbClr val="000000"/>
                </a:solidFill>
              </a:rPr>
              <a:t> </a:t>
            </a:r>
            <a:r>
              <a:rPr lang="pt-BR" sz="2400" dirty="0" err="1">
                <a:solidFill>
                  <a:srgbClr val="000000"/>
                </a:solidFill>
              </a:rPr>
              <a:t>Recognition</a:t>
            </a:r>
            <a:r>
              <a:rPr lang="pt-BR" sz="2400" dirty="0">
                <a:solidFill>
                  <a:srgbClr val="000000"/>
                </a:solidFill>
              </a:rPr>
              <a:t> </a:t>
            </a:r>
            <a:r>
              <a:rPr lang="pt-BR" sz="2400" dirty="0" err="1">
                <a:solidFill>
                  <a:srgbClr val="000000"/>
                </a:solidFill>
              </a:rPr>
              <a:t>and</a:t>
            </a:r>
            <a:r>
              <a:rPr lang="pt-BR" sz="2400" dirty="0">
                <a:solidFill>
                  <a:srgbClr val="000000"/>
                </a:solidFill>
              </a:rPr>
              <a:t> Machine Learning", Springer, 2006.</a:t>
            </a:r>
          </a:p>
          <a:p>
            <a:pPr marL="0" indent="0">
              <a:spcBef>
                <a:spcPts val="0"/>
              </a:spcBef>
              <a:buNone/>
            </a:pPr>
            <a:r>
              <a:rPr lang="pt-BR" sz="2400" dirty="0">
                <a:solidFill>
                  <a:srgbClr val="000000"/>
                </a:solidFill>
              </a:rPr>
              <a:t>[8] “Livros”, </a:t>
            </a:r>
            <a:r>
              <a:rPr lang="pt-BR" sz="2400" dirty="0">
                <a:solidFill>
                  <a:srgbClr val="000000"/>
                </a:solidFill>
                <a:hlinkClick r:id="rId5"/>
              </a:rPr>
              <a:t>http://tinyurl.com/tp558-books</a:t>
            </a:r>
            <a:endParaRPr lang="pt-BR" sz="2400" dirty="0">
              <a:solidFill>
                <a:srgbClr val="000000"/>
              </a:solidFill>
            </a:endParaRPr>
          </a:p>
        </p:txBody>
      </p:sp>
    </p:spTree>
    <p:extLst>
      <p:ext uri="{BB962C8B-B14F-4D97-AF65-F5344CB8AC3E}">
        <p14:creationId xmlns:p14="http://schemas.microsoft.com/office/powerpoint/2010/main" val="224794613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a:t>Avisos</a:t>
            </a:r>
            <a:endParaRPr lang="nl-BE" dirty="0"/>
          </a:p>
        </p:txBody>
      </p:sp>
      <p:sp>
        <p:nvSpPr>
          <p:cNvPr id="3" name="Content Placeholder 2"/>
          <p:cNvSpPr>
            <a:spLocks noGrp="1"/>
          </p:cNvSpPr>
          <p:nvPr>
            <p:ph idx="1"/>
          </p:nvPr>
        </p:nvSpPr>
        <p:spPr>
          <a:xfrm>
            <a:off x="838199" y="1825624"/>
            <a:ext cx="11104419" cy="5032376"/>
          </a:xfrm>
        </p:spPr>
        <p:txBody>
          <a:bodyPr>
            <a:normAutofit/>
          </a:bodyPr>
          <a:lstStyle/>
          <a:p>
            <a:r>
              <a:rPr lang="pt-BR" dirty="0"/>
              <a:t>Todo material do curso está disponível no GitHub:</a:t>
            </a:r>
          </a:p>
          <a:p>
            <a:pPr lvl="1">
              <a:buFont typeface="Wingdings" panose="05000000000000000000" pitchFamily="2" charset="2"/>
              <a:buChar char="§"/>
            </a:pPr>
            <a:r>
              <a:rPr lang="pt-BR" dirty="0">
                <a:hlinkClick r:id="rId2"/>
              </a:rPr>
              <a:t>https://github.com/zz4fap/tp558-adv-ml</a:t>
            </a:r>
            <a:endParaRPr lang="pt-BR" dirty="0"/>
          </a:p>
          <a:p>
            <a:r>
              <a:rPr lang="pt-BR" dirty="0"/>
              <a:t>Como usar o Google </a:t>
            </a:r>
            <a:r>
              <a:rPr lang="pt-BR" dirty="0" err="1"/>
              <a:t>Colab</a:t>
            </a:r>
            <a:endParaRPr lang="pt-BR" dirty="0"/>
          </a:p>
          <a:p>
            <a:pPr lvl="1">
              <a:buFont typeface="Wingdings" panose="05000000000000000000" pitchFamily="2" charset="2"/>
              <a:buChar char="§"/>
            </a:pPr>
            <a:r>
              <a:rPr lang="pt-BR" dirty="0">
                <a:hlinkClick r:id="rId3"/>
              </a:rPr>
              <a:t>https://www.youtube.com/watch?v=inN8seMm7UI&amp;ab_channel=TensorFlow</a:t>
            </a:r>
          </a:p>
          <a:p>
            <a:pPr lvl="1">
              <a:buFont typeface="Wingdings" panose="05000000000000000000" pitchFamily="2" charset="2"/>
              <a:buChar char="§"/>
            </a:pPr>
            <a:r>
              <a:rPr lang="pt-BR" b="0" i="0" dirty="0">
                <a:solidFill>
                  <a:srgbClr val="222222"/>
                </a:solidFill>
                <a:effectLst/>
                <a:latin typeface="Arial" panose="020B0604020202020204" pitchFamily="34" charset="0"/>
                <a:hlinkClick r:id="rId4"/>
              </a:rPr>
              <a:t>https://www.youtube.com/watch?v=inN8seMm7UI</a:t>
            </a:r>
            <a:endParaRPr lang="pt-BR" b="0" i="0" dirty="0">
              <a:solidFill>
                <a:srgbClr val="222222"/>
              </a:solidFill>
              <a:effectLst/>
              <a:latin typeface="Arial" panose="020B0604020202020204" pitchFamily="34" charset="0"/>
            </a:endParaRPr>
          </a:p>
          <a:p>
            <a:r>
              <a:rPr lang="pt-BR" dirty="0"/>
              <a:t>Python Crash </a:t>
            </a:r>
            <a:r>
              <a:rPr lang="pt-BR" dirty="0" err="1"/>
              <a:t>Course</a:t>
            </a:r>
            <a:endParaRPr lang="pt-BR" dirty="0">
              <a:hlinkClick r:id="rId3"/>
            </a:endParaRPr>
          </a:p>
          <a:p>
            <a:pPr lvl="1">
              <a:buFont typeface="Wingdings" panose="05000000000000000000" pitchFamily="2" charset="2"/>
              <a:buChar char="§"/>
            </a:pPr>
            <a:r>
              <a:rPr lang="pt-BR" dirty="0">
                <a:hlinkClick r:id="rId3"/>
              </a:rPr>
              <a:t>https://www.youtube.com/watch?v=pq4NNIYar9o&amp;list=PLRc6ZYt68prVXAhwY1JD6DFc3BJGmJriq&amp;pp=gAQBiAQB</a:t>
            </a:r>
            <a:endParaRPr lang="pt-BR" dirty="0"/>
          </a:p>
          <a:p>
            <a:r>
              <a:rPr lang="pt-BR" dirty="0"/>
              <a:t>Horário de Atendimento</a:t>
            </a:r>
          </a:p>
          <a:p>
            <a:pPr lvl="1">
              <a:buFont typeface="Wingdings" panose="05000000000000000000" pitchFamily="2" charset="2"/>
              <a:buChar char="§"/>
            </a:pPr>
            <a:r>
              <a:rPr lang="pt-BR" dirty="0"/>
              <a:t>Todas as terças-feiras das 10:00 às 11:00.</a:t>
            </a:r>
          </a:p>
          <a:p>
            <a:pPr lvl="1">
              <a:buFont typeface="Wingdings" panose="05000000000000000000" pitchFamily="2" charset="2"/>
              <a:buChar char="§"/>
            </a:pPr>
            <a:r>
              <a:rPr lang="pt-BR" dirty="0"/>
              <a:t>Presencialmente.</a:t>
            </a:r>
          </a:p>
        </p:txBody>
      </p:sp>
    </p:spTree>
    <p:extLst>
      <p:ext uri="{BB962C8B-B14F-4D97-AF65-F5344CB8AC3E}">
        <p14:creationId xmlns:p14="http://schemas.microsoft.com/office/powerpoint/2010/main" val="141290048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Perguntas?</a:t>
            </a:r>
            <a:endParaRPr lang="pt-BR" sz="6600" b="1" i="1" dirty="0"/>
          </a:p>
        </p:txBody>
      </p:sp>
    </p:spTree>
    <p:extLst>
      <p:ext uri="{BB962C8B-B14F-4D97-AF65-F5344CB8AC3E}">
        <p14:creationId xmlns:p14="http://schemas.microsoft.com/office/powerpoint/2010/main" val="377300566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Obrigado!</a:t>
            </a:r>
            <a:endParaRPr lang="pt-BR" sz="6600" b="1" i="1" dirty="0"/>
          </a:p>
        </p:txBody>
      </p:sp>
    </p:spTree>
    <p:extLst>
      <p:ext uri="{BB962C8B-B14F-4D97-AF65-F5344CB8AC3E}">
        <p14:creationId xmlns:p14="http://schemas.microsoft.com/office/powerpoint/2010/main" val="265570461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1BC2EE5-C8A9-A5C4-E79F-7ACA60564BF4}"/>
              </a:ext>
            </a:extLst>
          </p:cNvPr>
          <p:cNvSpPr>
            <a:spLocks noGrp="1"/>
          </p:cNvSpPr>
          <p:nvPr>
            <p:ph type="title"/>
          </p:nvPr>
        </p:nvSpPr>
        <p:spPr/>
        <p:txBody>
          <a:bodyPr/>
          <a:lstStyle/>
          <a:p>
            <a:r>
              <a:rPr lang="pt-BR" dirty="0"/>
              <a:t>Temas dos seminários</a:t>
            </a:r>
          </a:p>
        </p:txBody>
      </p:sp>
      <p:sp>
        <p:nvSpPr>
          <p:cNvPr id="3" name="Espaço Reservado para Conteúdo 2">
            <a:extLst>
              <a:ext uri="{FF2B5EF4-FFF2-40B4-BE49-F238E27FC236}">
                <a16:creationId xmlns:a16="http://schemas.microsoft.com/office/drawing/2014/main" id="{F34E1E4B-4890-7308-FDD9-BCFBF68A4D2F}"/>
              </a:ext>
            </a:extLst>
          </p:cNvPr>
          <p:cNvSpPr>
            <a:spLocks noGrp="1"/>
          </p:cNvSpPr>
          <p:nvPr>
            <p:ph idx="1"/>
          </p:nvPr>
        </p:nvSpPr>
        <p:spPr>
          <a:xfrm>
            <a:off x="838199" y="1825624"/>
            <a:ext cx="11038115" cy="5032375"/>
          </a:xfrm>
        </p:spPr>
        <p:txBody>
          <a:bodyPr>
            <a:normAutofit/>
          </a:bodyPr>
          <a:lstStyle/>
          <a:p>
            <a:r>
              <a:rPr lang="pt-BR" dirty="0" err="1"/>
              <a:t>Generative</a:t>
            </a:r>
            <a:r>
              <a:rPr lang="pt-BR" dirty="0"/>
              <a:t> </a:t>
            </a:r>
            <a:r>
              <a:rPr lang="pt-BR" dirty="0" err="1"/>
              <a:t>deep</a:t>
            </a:r>
            <a:r>
              <a:rPr lang="pt-BR" dirty="0"/>
              <a:t> learning: </a:t>
            </a:r>
            <a:r>
              <a:rPr lang="pt-BR" dirty="0" err="1"/>
              <a:t>Image</a:t>
            </a:r>
            <a:r>
              <a:rPr lang="pt-BR" dirty="0"/>
              <a:t> Generation</a:t>
            </a:r>
          </a:p>
          <a:p>
            <a:pPr lvl="1">
              <a:buFont typeface="Wingdings" panose="05000000000000000000" pitchFamily="2" charset="2"/>
              <a:buChar char="§"/>
            </a:pPr>
            <a:r>
              <a:rPr lang="en-US" dirty="0">
                <a:solidFill>
                  <a:srgbClr val="000000"/>
                </a:solidFill>
              </a:rPr>
              <a:t>D</a:t>
            </a:r>
            <a:r>
              <a:rPr lang="en-US" b="0" i="0" dirty="0">
                <a:solidFill>
                  <a:srgbClr val="000000"/>
                </a:solidFill>
                <a:effectLst/>
              </a:rPr>
              <a:t>eep convolutional generative adversarial network (DCGAN)</a:t>
            </a:r>
          </a:p>
          <a:p>
            <a:pPr lvl="2">
              <a:buFont typeface="Wingdings" panose="05000000000000000000" pitchFamily="2" charset="2"/>
              <a:buChar char="ü"/>
            </a:pPr>
            <a:r>
              <a:rPr lang="en-US" b="0" i="0" dirty="0">
                <a:solidFill>
                  <a:srgbClr val="000000"/>
                </a:solidFill>
                <a:effectLst/>
                <a:hlinkClick r:id="rId2"/>
              </a:rPr>
              <a:t>https://arxiv.org/abs/1511.06434</a:t>
            </a:r>
            <a:endParaRPr lang="en-US" b="0" i="0" dirty="0">
              <a:solidFill>
                <a:srgbClr val="000000"/>
              </a:solidFill>
              <a:effectLst/>
            </a:endParaRPr>
          </a:p>
          <a:p>
            <a:pPr lvl="2">
              <a:buFont typeface="Wingdings" panose="05000000000000000000" pitchFamily="2" charset="2"/>
              <a:buChar char="ü"/>
            </a:pPr>
            <a:r>
              <a:rPr lang="pt-BR" dirty="0">
                <a:hlinkClick r:id="rId3"/>
              </a:rPr>
              <a:t>https://keras.io/examples/generative/dcgan_overriding_train_step/</a:t>
            </a:r>
            <a:endParaRPr lang="pt-BR" dirty="0"/>
          </a:p>
          <a:p>
            <a:pPr lvl="1">
              <a:buFont typeface="Wingdings" panose="05000000000000000000" pitchFamily="2" charset="2"/>
              <a:buChar char="§"/>
            </a:pPr>
            <a:r>
              <a:rPr lang="pt-BR" dirty="0" err="1">
                <a:solidFill>
                  <a:srgbClr val="202124"/>
                </a:solidFill>
              </a:rPr>
              <a:t>Conditional</a:t>
            </a:r>
            <a:r>
              <a:rPr lang="pt-BR" dirty="0">
                <a:solidFill>
                  <a:srgbClr val="202124"/>
                </a:solidFill>
              </a:rPr>
              <a:t> GAN (CGAN)</a:t>
            </a:r>
          </a:p>
          <a:p>
            <a:pPr lvl="2">
              <a:buFont typeface="Wingdings" panose="05000000000000000000" pitchFamily="2" charset="2"/>
              <a:buChar char="ü"/>
            </a:pPr>
            <a:r>
              <a:rPr lang="pt-BR" dirty="0">
                <a:solidFill>
                  <a:srgbClr val="202124"/>
                </a:solidFill>
                <a:hlinkClick r:id="rId4"/>
              </a:rPr>
              <a:t>https://arxiv.org/abs/1411.1784</a:t>
            </a:r>
            <a:endParaRPr lang="pt-BR" dirty="0">
              <a:solidFill>
                <a:srgbClr val="202124"/>
              </a:solidFill>
            </a:endParaRPr>
          </a:p>
          <a:p>
            <a:pPr lvl="2">
              <a:buFont typeface="Wingdings" panose="05000000000000000000" pitchFamily="2" charset="2"/>
              <a:buChar char="ü"/>
            </a:pPr>
            <a:r>
              <a:rPr lang="pt-BR" dirty="0">
                <a:solidFill>
                  <a:srgbClr val="202124"/>
                </a:solidFill>
                <a:hlinkClick r:id="rId5"/>
              </a:rPr>
              <a:t>https://keras.io/examples/generative/conditional_gan/</a:t>
            </a:r>
            <a:endParaRPr lang="pt-BR" dirty="0"/>
          </a:p>
          <a:p>
            <a:pPr lvl="1">
              <a:buFont typeface="Wingdings" panose="05000000000000000000" pitchFamily="2" charset="2"/>
              <a:buChar char="§"/>
            </a:pPr>
            <a:r>
              <a:rPr lang="pt-BR" b="0" i="0" dirty="0" err="1">
                <a:solidFill>
                  <a:srgbClr val="202124"/>
                </a:solidFill>
                <a:effectLst/>
              </a:rPr>
              <a:t>Variational</a:t>
            </a:r>
            <a:r>
              <a:rPr lang="pt-BR" b="0" i="0" dirty="0">
                <a:solidFill>
                  <a:srgbClr val="202124"/>
                </a:solidFill>
                <a:effectLst/>
              </a:rPr>
              <a:t> </a:t>
            </a:r>
            <a:r>
              <a:rPr lang="pt-BR" b="0" i="0" dirty="0" err="1">
                <a:solidFill>
                  <a:srgbClr val="202124"/>
                </a:solidFill>
                <a:effectLst/>
              </a:rPr>
              <a:t>Autoencoder</a:t>
            </a:r>
            <a:r>
              <a:rPr lang="pt-BR" b="0" i="0" dirty="0">
                <a:solidFill>
                  <a:srgbClr val="202124"/>
                </a:solidFill>
                <a:effectLst/>
              </a:rPr>
              <a:t> (VAE)</a:t>
            </a:r>
          </a:p>
          <a:p>
            <a:pPr lvl="2">
              <a:buFont typeface="Wingdings" panose="05000000000000000000" pitchFamily="2" charset="2"/>
              <a:buChar char="ü"/>
            </a:pPr>
            <a:r>
              <a:rPr lang="pt-BR" dirty="0">
                <a:hlinkClick r:id="rId6"/>
              </a:rPr>
              <a:t>https://arxiv.org/abs/1312.6114</a:t>
            </a:r>
            <a:endParaRPr lang="pt-BR" dirty="0">
              <a:solidFill>
                <a:srgbClr val="202124"/>
              </a:solidFill>
            </a:endParaRPr>
          </a:p>
          <a:p>
            <a:pPr lvl="2">
              <a:buFont typeface="Wingdings" panose="05000000000000000000" pitchFamily="2" charset="2"/>
              <a:buChar char="ü"/>
            </a:pPr>
            <a:r>
              <a:rPr lang="pt-BR" dirty="0">
                <a:hlinkClick r:id="rId7"/>
              </a:rPr>
              <a:t>https://www.tensorflow.org/tutorials/generative/cvae?hl=en</a:t>
            </a:r>
            <a:endParaRPr lang="pt-BR" dirty="0"/>
          </a:p>
        </p:txBody>
      </p:sp>
    </p:spTree>
    <p:extLst>
      <p:ext uri="{BB962C8B-B14F-4D97-AF65-F5344CB8AC3E}">
        <p14:creationId xmlns:p14="http://schemas.microsoft.com/office/powerpoint/2010/main" val="90108244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1BC2EE5-C8A9-A5C4-E79F-7ACA60564BF4}"/>
              </a:ext>
            </a:extLst>
          </p:cNvPr>
          <p:cNvSpPr>
            <a:spLocks noGrp="1"/>
          </p:cNvSpPr>
          <p:nvPr>
            <p:ph type="title"/>
          </p:nvPr>
        </p:nvSpPr>
        <p:spPr/>
        <p:txBody>
          <a:bodyPr/>
          <a:lstStyle/>
          <a:p>
            <a:r>
              <a:rPr lang="pt-BR" dirty="0"/>
              <a:t>Temas dos seminários</a:t>
            </a:r>
          </a:p>
        </p:txBody>
      </p:sp>
      <p:sp>
        <p:nvSpPr>
          <p:cNvPr id="3" name="Espaço Reservado para Conteúdo 2">
            <a:extLst>
              <a:ext uri="{FF2B5EF4-FFF2-40B4-BE49-F238E27FC236}">
                <a16:creationId xmlns:a16="http://schemas.microsoft.com/office/drawing/2014/main" id="{F34E1E4B-4890-7308-FDD9-BCFBF68A4D2F}"/>
              </a:ext>
            </a:extLst>
          </p:cNvPr>
          <p:cNvSpPr>
            <a:spLocks noGrp="1"/>
          </p:cNvSpPr>
          <p:nvPr>
            <p:ph idx="1"/>
          </p:nvPr>
        </p:nvSpPr>
        <p:spPr>
          <a:xfrm>
            <a:off x="838200" y="1825624"/>
            <a:ext cx="11016344" cy="5032375"/>
          </a:xfrm>
        </p:spPr>
        <p:txBody>
          <a:bodyPr>
            <a:normAutofit/>
          </a:bodyPr>
          <a:lstStyle/>
          <a:p>
            <a:r>
              <a:rPr lang="pt-BR" dirty="0" err="1"/>
              <a:t>Generative</a:t>
            </a:r>
            <a:r>
              <a:rPr lang="pt-BR" dirty="0"/>
              <a:t> </a:t>
            </a:r>
            <a:r>
              <a:rPr lang="pt-BR" dirty="0" err="1"/>
              <a:t>deep</a:t>
            </a:r>
            <a:r>
              <a:rPr lang="pt-BR" dirty="0"/>
              <a:t> learning: </a:t>
            </a:r>
            <a:r>
              <a:rPr lang="pt-BR" dirty="0" err="1"/>
              <a:t>Image</a:t>
            </a:r>
            <a:r>
              <a:rPr lang="pt-BR" dirty="0"/>
              <a:t> Generation</a:t>
            </a:r>
          </a:p>
          <a:p>
            <a:pPr lvl="1">
              <a:buFont typeface="Wingdings" panose="05000000000000000000" pitchFamily="2" charset="2"/>
              <a:buChar char="§"/>
            </a:pPr>
            <a:r>
              <a:rPr lang="en-US" b="0" i="0" dirty="0" err="1">
                <a:solidFill>
                  <a:srgbClr val="000000"/>
                </a:solidFill>
                <a:effectLst/>
              </a:rPr>
              <a:t>OOTDiffusion</a:t>
            </a:r>
            <a:r>
              <a:rPr lang="en-US" b="0" i="0" dirty="0">
                <a:solidFill>
                  <a:srgbClr val="000000"/>
                </a:solidFill>
                <a:effectLst/>
              </a:rPr>
              <a:t>: Outfitting Fusion based Latent Diffusion for Controllable Virtual Try-on</a:t>
            </a:r>
          </a:p>
          <a:p>
            <a:pPr lvl="2">
              <a:buFont typeface="Wingdings" panose="05000000000000000000" pitchFamily="2" charset="2"/>
              <a:buChar char="ü"/>
            </a:pPr>
            <a:r>
              <a:rPr lang="pt-BR" dirty="0">
                <a:hlinkClick r:id="rId2"/>
              </a:rPr>
              <a:t>https://arxiv.org/abs/2403.01779</a:t>
            </a:r>
            <a:endParaRPr lang="en-US" dirty="0">
              <a:solidFill>
                <a:srgbClr val="000000"/>
              </a:solidFill>
              <a:latin typeface="Lato" panose="020F0502020204030203" pitchFamily="34" charset="0"/>
            </a:endParaRPr>
          </a:p>
          <a:p>
            <a:pPr lvl="2">
              <a:buFont typeface="Wingdings" panose="05000000000000000000" pitchFamily="2" charset="2"/>
              <a:buChar char="ü"/>
            </a:pPr>
            <a:r>
              <a:rPr lang="pt-BR" dirty="0">
                <a:hlinkClick r:id="rId3"/>
              </a:rPr>
              <a:t>https://paperswithcode.com/paper/ootdiffusion-outfitting-fusion-based-latent</a:t>
            </a:r>
            <a:endParaRPr lang="pt-BR" dirty="0"/>
          </a:p>
          <a:p>
            <a:pPr lvl="1">
              <a:buFont typeface="Wingdings" panose="05000000000000000000" pitchFamily="2" charset="2"/>
              <a:buChar char="§"/>
            </a:pPr>
            <a:r>
              <a:rPr lang="pt-BR" b="0" i="0" dirty="0">
                <a:solidFill>
                  <a:srgbClr val="000000"/>
                </a:solidFill>
                <a:effectLst/>
              </a:rPr>
              <a:t>V3D: </a:t>
            </a:r>
            <a:r>
              <a:rPr lang="pt-BR" b="0" i="0" dirty="0" err="1">
                <a:solidFill>
                  <a:srgbClr val="000000"/>
                </a:solidFill>
                <a:effectLst/>
              </a:rPr>
              <a:t>Video</a:t>
            </a:r>
            <a:r>
              <a:rPr lang="pt-BR" b="0" i="0" dirty="0">
                <a:solidFill>
                  <a:srgbClr val="000000"/>
                </a:solidFill>
                <a:effectLst/>
              </a:rPr>
              <a:t> </a:t>
            </a:r>
            <a:r>
              <a:rPr lang="pt-BR" b="0" i="0" dirty="0" err="1">
                <a:solidFill>
                  <a:srgbClr val="000000"/>
                </a:solidFill>
                <a:effectLst/>
              </a:rPr>
              <a:t>Diffusion</a:t>
            </a:r>
            <a:r>
              <a:rPr lang="pt-BR" b="0" i="0" dirty="0">
                <a:solidFill>
                  <a:srgbClr val="000000"/>
                </a:solidFill>
                <a:effectLst/>
              </a:rPr>
              <a:t> Models are </a:t>
            </a:r>
            <a:r>
              <a:rPr lang="pt-BR" b="0" i="0" dirty="0" err="1">
                <a:solidFill>
                  <a:srgbClr val="000000"/>
                </a:solidFill>
                <a:effectLst/>
              </a:rPr>
              <a:t>Effective</a:t>
            </a:r>
            <a:r>
              <a:rPr lang="pt-BR" b="0" i="0" dirty="0">
                <a:solidFill>
                  <a:srgbClr val="000000"/>
                </a:solidFill>
                <a:effectLst/>
              </a:rPr>
              <a:t> 3D </a:t>
            </a:r>
            <a:r>
              <a:rPr lang="pt-BR" b="0" i="0" dirty="0" err="1">
                <a:solidFill>
                  <a:srgbClr val="000000"/>
                </a:solidFill>
                <a:effectLst/>
              </a:rPr>
              <a:t>Generators</a:t>
            </a:r>
            <a:endParaRPr lang="pt-BR" b="0" i="0" dirty="0">
              <a:solidFill>
                <a:srgbClr val="000000"/>
              </a:solidFill>
              <a:effectLst/>
            </a:endParaRPr>
          </a:p>
          <a:p>
            <a:pPr lvl="2">
              <a:buFont typeface="Wingdings" panose="05000000000000000000" pitchFamily="2" charset="2"/>
              <a:buChar char="ü"/>
            </a:pPr>
            <a:r>
              <a:rPr lang="pt-BR" b="0" i="0" dirty="0">
                <a:solidFill>
                  <a:srgbClr val="000000"/>
                </a:solidFill>
                <a:effectLst/>
                <a:hlinkClick r:id="rId4"/>
              </a:rPr>
              <a:t>https://arxiv.org/abs/2403.06738</a:t>
            </a:r>
            <a:endParaRPr lang="pt-BR" dirty="0">
              <a:solidFill>
                <a:srgbClr val="000000"/>
              </a:solidFill>
            </a:endParaRPr>
          </a:p>
          <a:p>
            <a:pPr lvl="2">
              <a:buFont typeface="Wingdings" panose="05000000000000000000" pitchFamily="2" charset="2"/>
              <a:buChar char="ü"/>
            </a:pPr>
            <a:r>
              <a:rPr lang="pt-BR" b="0" i="0" dirty="0">
                <a:solidFill>
                  <a:srgbClr val="000000"/>
                </a:solidFill>
                <a:effectLst/>
                <a:hlinkClick r:id="rId5"/>
              </a:rPr>
              <a:t>https://paperswithcode.com/paper/v3d-video-diffusion-models-are-effective-3d</a:t>
            </a:r>
            <a:endParaRPr lang="pt-BR" b="0" i="0" dirty="0">
              <a:solidFill>
                <a:srgbClr val="000000"/>
              </a:solidFill>
              <a:effectLst/>
            </a:endParaRPr>
          </a:p>
        </p:txBody>
      </p:sp>
    </p:spTree>
    <p:extLst>
      <p:ext uri="{BB962C8B-B14F-4D97-AF65-F5344CB8AC3E}">
        <p14:creationId xmlns:p14="http://schemas.microsoft.com/office/powerpoint/2010/main" val="13791013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17B87B-9451-26E5-143E-DFEF71434E9F}"/>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530D8C5D-85CB-1EC5-46EE-3E9C5D6E11D6}"/>
              </a:ext>
            </a:extLst>
          </p:cNvPr>
          <p:cNvSpPr>
            <a:spLocks noGrp="1"/>
          </p:cNvSpPr>
          <p:nvPr>
            <p:ph type="title"/>
          </p:nvPr>
        </p:nvSpPr>
        <p:spPr/>
        <p:txBody>
          <a:bodyPr/>
          <a:lstStyle/>
          <a:p>
            <a:r>
              <a:rPr lang="pt-BR" dirty="0"/>
              <a:t>Temas dos seminários</a:t>
            </a:r>
          </a:p>
        </p:txBody>
      </p:sp>
      <p:sp>
        <p:nvSpPr>
          <p:cNvPr id="3" name="Espaço Reservado para Conteúdo 2">
            <a:extLst>
              <a:ext uri="{FF2B5EF4-FFF2-40B4-BE49-F238E27FC236}">
                <a16:creationId xmlns:a16="http://schemas.microsoft.com/office/drawing/2014/main" id="{4C11FF3E-C7A6-AE98-273A-28F266ADBFC3}"/>
              </a:ext>
            </a:extLst>
          </p:cNvPr>
          <p:cNvSpPr>
            <a:spLocks noGrp="1"/>
          </p:cNvSpPr>
          <p:nvPr>
            <p:ph idx="1"/>
          </p:nvPr>
        </p:nvSpPr>
        <p:spPr>
          <a:xfrm>
            <a:off x="838200" y="1825624"/>
            <a:ext cx="11201400" cy="5032375"/>
          </a:xfrm>
        </p:spPr>
        <p:txBody>
          <a:bodyPr/>
          <a:lstStyle/>
          <a:p>
            <a:r>
              <a:rPr lang="pt-BR" dirty="0"/>
              <a:t>Computer Vision: </a:t>
            </a:r>
            <a:r>
              <a:rPr lang="pt-BR" dirty="0" err="1"/>
              <a:t>Image</a:t>
            </a:r>
            <a:r>
              <a:rPr lang="pt-BR" dirty="0"/>
              <a:t> </a:t>
            </a:r>
            <a:r>
              <a:rPr lang="pt-BR" dirty="0" err="1"/>
              <a:t>classification</a:t>
            </a:r>
            <a:endParaRPr lang="pt-BR" dirty="0"/>
          </a:p>
          <a:p>
            <a:pPr lvl="1">
              <a:buFont typeface="Wingdings" panose="05000000000000000000" pitchFamily="2" charset="2"/>
              <a:buChar char="§"/>
            </a:pPr>
            <a:r>
              <a:rPr lang="pt-BR" dirty="0"/>
              <a:t>Vision </a:t>
            </a:r>
            <a:r>
              <a:rPr lang="pt-BR" dirty="0" err="1"/>
              <a:t>Transformer</a:t>
            </a:r>
            <a:endParaRPr lang="pt-BR" dirty="0"/>
          </a:p>
          <a:p>
            <a:pPr lvl="2">
              <a:buFont typeface="Wingdings" panose="05000000000000000000" pitchFamily="2" charset="2"/>
              <a:buChar char="ü"/>
            </a:pPr>
            <a:r>
              <a:rPr lang="pt-BR" dirty="0">
                <a:hlinkClick r:id="rId2"/>
              </a:rPr>
              <a:t>https://arxiv.org/abs/2010.11929</a:t>
            </a:r>
            <a:endParaRPr lang="pt-BR" dirty="0"/>
          </a:p>
          <a:p>
            <a:pPr lvl="2">
              <a:buFont typeface="Wingdings" panose="05000000000000000000" pitchFamily="2" charset="2"/>
              <a:buChar char="ü"/>
            </a:pPr>
            <a:r>
              <a:rPr lang="pt-BR" dirty="0">
                <a:hlinkClick r:id="rId3"/>
              </a:rPr>
              <a:t>https://keras.io/examples/vision/image_classification_with_vision_transformer/</a:t>
            </a:r>
            <a:endParaRPr lang="pt-BR" dirty="0"/>
          </a:p>
          <a:p>
            <a:pPr lvl="1">
              <a:buFont typeface="Wingdings" panose="05000000000000000000" pitchFamily="2" charset="2"/>
              <a:buChar char="§"/>
            </a:pPr>
            <a:r>
              <a:rPr lang="pt-BR" dirty="0" err="1"/>
              <a:t>Swin</a:t>
            </a:r>
            <a:r>
              <a:rPr lang="pt-BR" dirty="0"/>
              <a:t> </a:t>
            </a:r>
            <a:r>
              <a:rPr lang="pt-BR" dirty="0" err="1"/>
              <a:t>Transformer</a:t>
            </a:r>
            <a:endParaRPr lang="pt-BR" dirty="0"/>
          </a:p>
          <a:p>
            <a:pPr lvl="2">
              <a:buFont typeface="Wingdings" panose="05000000000000000000" pitchFamily="2" charset="2"/>
              <a:buChar char="ü"/>
            </a:pPr>
            <a:r>
              <a:rPr lang="pt-BR" dirty="0">
                <a:hlinkClick r:id="rId4"/>
              </a:rPr>
              <a:t>https://arxiv.org/abs/2103.14030</a:t>
            </a:r>
            <a:endParaRPr lang="pt-BR" dirty="0"/>
          </a:p>
          <a:p>
            <a:pPr lvl="2">
              <a:buFont typeface="Wingdings" panose="05000000000000000000" pitchFamily="2" charset="2"/>
              <a:buChar char="ü"/>
            </a:pPr>
            <a:r>
              <a:rPr lang="pt-BR" dirty="0">
                <a:hlinkClick r:id="rId5"/>
              </a:rPr>
              <a:t>https://keras.io/examples/vision/swin_transformers/</a:t>
            </a:r>
            <a:endParaRPr lang="pt-BR" dirty="0"/>
          </a:p>
          <a:p>
            <a:pPr lvl="1">
              <a:buFont typeface="Wingdings" panose="05000000000000000000" pitchFamily="2" charset="2"/>
              <a:buChar char="§"/>
            </a:pPr>
            <a:r>
              <a:rPr lang="pt-BR" i="0" dirty="0" err="1">
                <a:solidFill>
                  <a:srgbClr val="212529"/>
                </a:solidFill>
                <a:effectLst/>
              </a:rPr>
              <a:t>Reptile</a:t>
            </a:r>
            <a:endParaRPr lang="pt-BR" i="0" dirty="0">
              <a:solidFill>
                <a:srgbClr val="212529"/>
              </a:solidFill>
              <a:effectLst/>
            </a:endParaRPr>
          </a:p>
          <a:p>
            <a:pPr lvl="2">
              <a:buFont typeface="Wingdings" panose="05000000000000000000" pitchFamily="2" charset="2"/>
              <a:buChar char="ü"/>
            </a:pPr>
            <a:r>
              <a:rPr lang="pt-BR" dirty="0">
                <a:hlinkClick r:id="rId6"/>
              </a:rPr>
              <a:t>https://arxiv.org/abs/1803.02999</a:t>
            </a:r>
            <a:endParaRPr lang="pt-BR" dirty="0"/>
          </a:p>
          <a:p>
            <a:pPr lvl="2">
              <a:buFont typeface="Wingdings" panose="05000000000000000000" pitchFamily="2" charset="2"/>
              <a:buChar char="ü"/>
            </a:pPr>
            <a:r>
              <a:rPr lang="pt-BR" dirty="0">
                <a:hlinkClick r:id="rId7"/>
              </a:rPr>
              <a:t>https://keras.io/examples/vision/reptile/</a:t>
            </a:r>
            <a:endParaRPr lang="pt-BR" dirty="0"/>
          </a:p>
          <a:p>
            <a:pPr lvl="1">
              <a:buFont typeface="Wingdings" panose="05000000000000000000" pitchFamily="2" charset="2"/>
              <a:buChar char="§"/>
            </a:pPr>
            <a:r>
              <a:rPr lang="en-US" b="0" i="0" dirty="0" err="1">
                <a:solidFill>
                  <a:srgbClr val="000000"/>
                </a:solidFill>
                <a:effectLst/>
              </a:rPr>
              <a:t>RegNet</a:t>
            </a:r>
            <a:r>
              <a:rPr lang="en-US" b="0" i="0" dirty="0">
                <a:solidFill>
                  <a:srgbClr val="000000"/>
                </a:solidFill>
                <a:effectLst/>
              </a:rPr>
              <a:t>: Self-Regulated Network for Image Classification</a:t>
            </a:r>
          </a:p>
          <a:p>
            <a:pPr lvl="2">
              <a:buFont typeface="Wingdings" panose="05000000000000000000" pitchFamily="2" charset="2"/>
              <a:buChar char="ü"/>
            </a:pPr>
            <a:r>
              <a:rPr lang="pt-BR" dirty="0">
                <a:hlinkClick r:id="rId8"/>
              </a:rPr>
              <a:t>https://arxiv.org/abs/2101.00590</a:t>
            </a:r>
            <a:endParaRPr lang="en-US" dirty="0">
              <a:solidFill>
                <a:srgbClr val="000000"/>
              </a:solidFill>
            </a:endParaRPr>
          </a:p>
          <a:p>
            <a:pPr lvl="2">
              <a:buFont typeface="Wingdings" panose="05000000000000000000" pitchFamily="2" charset="2"/>
              <a:buChar char="ü"/>
            </a:pPr>
            <a:r>
              <a:rPr lang="pt-BR" dirty="0">
                <a:hlinkClick r:id="rId9"/>
              </a:rPr>
              <a:t>https://paperswithcode.com/paper/regnet-self-regulated-network-for-image</a:t>
            </a:r>
            <a:endParaRPr lang="pt-BR" dirty="0"/>
          </a:p>
        </p:txBody>
      </p:sp>
    </p:spTree>
    <p:extLst>
      <p:ext uri="{BB962C8B-B14F-4D97-AF65-F5344CB8AC3E}">
        <p14:creationId xmlns:p14="http://schemas.microsoft.com/office/powerpoint/2010/main" val="141387780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7B3849-BF4B-F30A-23EA-9FE30E20CBCA}"/>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249A0E92-603C-2FF8-F119-2A802B939AA2}"/>
              </a:ext>
            </a:extLst>
          </p:cNvPr>
          <p:cNvSpPr>
            <a:spLocks noGrp="1"/>
          </p:cNvSpPr>
          <p:nvPr>
            <p:ph type="title"/>
          </p:nvPr>
        </p:nvSpPr>
        <p:spPr/>
        <p:txBody>
          <a:bodyPr/>
          <a:lstStyle/>
          <a:p>
            <a:r>
              <a:rPr lang="pt-BR" dirty="0"/>
              <a:t>Temas dos seminários</a:t>
            </a:r>
          </a:p>
        </p:txBody>
      </p:sp>
      <p:sp>
        <p:nvSpPr>
          <p:cNvPr id="3" name="Espaço Reservado para Conteúdo 2">
            <a:extLst>
              <a:ext uri="{FF2B5EF4-FFF2-40B4-BE49-F238E27FC236}">
                <a16:creationId xmlns:a16="http://schemas.microsoft.com/office/drawing/2014/main" id="{09015E3D-F27D-5C4C-AFAE-8A3141CD4684}"/>
              </a:ext>
            </a:extLst>
          </p:cNvPr>
          <p:cNvSpPr>
            <a:spLocks noGrp="1"/>
          </p:cNvSpPr>
          <p:nvPr>
            <p:ph idx="1"/>
          </p:nvPr>
        </p:nvSpPr>
        <p:spPr/>
        <p:txBody>
          <a:bodyPr>
            <a:normAutofit/>
          </a:bodyPr>
          <a:lstStyle/>
          <a:p>
            <a:r>
              <a:rPr lang="pt-BR" dirty="0"/>
              <a:t>Computer Vision: </a:t>
            </a:r>
            <a:r>
              <a:rPr lang="pt-BR" dirty="0" err="1"/>
              <a:t>Image</a:t>
            </a:r>
            <a:r>
              <a:rPr lang="pt-BR" dirty="0"/>
              <a:t> </a:t>
            </a:r>
            <a:r>
              <a:rPr lang="pt-BR" dirty="0" err="1"/>
              <a:t>Segmentation</a:t>
            </a:r>
            <a:endParaRPr lang="pt-BR" dirty="0"/>
          </a:p>
          <a:p>
            <a:pPr lvl="1">
              <a:buFont typeface="Wingdings" panose="05000000000000000000" pitchFamily="2" charset="2"/>
              <a:buChar char="§"/>
            </a:pPr>
            <a:r>
              <a:rPr lang="pt-BR" dirty="0" err="1"/>
              <a:t>U-Net</a:t>
            </a:r>
            <a:endParaRPr lang="pt-BR" dirty="0"/>
          </a:p>
          <a:p>
            <a:pPr lvl="2">
              <a:buFont typeface="Wingdings" panose="05000000000000000000" pitchFamily="2" charset="2"/>
              <a:buChar char="ü"/>
            </a:pPr>
            <a:r>
              <a:rPr lang="pt-BR" dirty="0">
                <a:hlinkClick r:id="rId2"/>
              </a:rPr>
              <a:t>https://link.springer.com/chapter/10.1007/978-3-319-24574-4_28</a:t>
            </a:r>
            <a:endParaRPr lang="pt-BR" dirty="0"/>
          </a:p>
          <a:p>
            <a:pPr lvl="2">
              <a:buFont typeface="Wingdings" panose="05000000000000000000" pitchFamily="2" charset="2"/>
              <a:buChar char="ü"/>
            </a:pPr>
            <a:r>
              <a:rPr lang="pt-BR" dirty="0">
                <a:hlinkClick r:id="rId3"/>
              </a:rPr>
              <a:t>https://www.tensorflow.org/tutorials/images/segmentation?hl=pt-br</a:t>
            </a:r>
            <a:endParaRPr lang="pt-BR" dirty="0"/>
          </a:p>
          <a:p>
            <a:pPr lvl="1">
              <a:buFont typeface="Wingdings" panose="05000000000000000000" pitchFamily="2" charset="2"/>
              <a:buChar char="§"/>
            </a:pPr>
            <a:r>
              <a:rPr lang="pt-BR" dirty="0" err="1"/>
              <a:t>Boundary-Aware</a:t>
            </a:r>
            <a:r>
              <a:rPr lang="pt-BR" dirty="0"/>
              <a:t> </a:t>
            </a:r>
            <a:r>
              <a:rPr lang="pt-BR" dirty="0" err="1"/>
              <a:t>Segmentation</a:t>
            </a:r>
            <a:r>
              <a:rPr lang="pt-BR" dirty="0"/>
              <a:t> Network (</a:t>
            </a:r>
            <a:r>
              <a:rPr lang="pt-BR" dirty="0" err="1"/>
              <a:t>BASNet</a:t>
            </a:r>
            <a:r>
              <a:rPr lang="pt-BR" dirty="0"/>
              <a:t>)</a:t>
            </a:r>
          </a:p>
          <a:p>
            <a:pPr lvl="2">
              <a:buFont typeface="Wingdings" panose="05000000000000000000" pitchFamily="2" charset="2"/>
              <a:buChar char="ü"/>
            </a:pPr>
            <a:r>
              <a:rPr lang="pt-BR" dirty="0">
                <a:hlinkClick r:id="rId4"/>
              </a:rPr>
              <a:t>https://arxiv.org/abs/2101.04704</a:t>
            </a:r>
            <a:endParaRPr lang="pt-BR" dirty="0"/>
          </a:p>
          <a:p>
            <a:pPr lvl="2">
              <a:buFont typeface="Wingdings" panose="05000000000000000000" pitchFamily="2" charset="2"/>
              <a:buChar char="ü"/>
            </a:pPr>
            <a:r>
              <a:rPr lang="pt-BR" dirty="0">
                <a:hlinkClick r:id="rId5"/>
              </a:rPr>
              <a:t>https://keras.io/examples/vision/basnet_segmentation/</a:t>
            </a:r>
            <a:endParaRPr lang="pt-BR" dirty="0"/>
          </a:p>
          <a:p>
            <a:pPr lvl="2">
              <a:buFont typeface="Wingdings" panose="05000000000000000000" pitchFamily="2" charset="2"/>
              <a:buChar char="ü"/>
            </a:pPr>
            <a:endParaRPr lang="pt-BR" dirty="0"/>
          </a:p>
          <a:p>
            <a:pPr marL="914400" lvl="2" indent="0">
              <a:buNone/>
            </a:pPr>
            <a:endParaRPr lang="pt-BR" dirty="0"/>
          </a:p>
          <a:p>
            <a:pPr marL="914400" lvl="2" indent="0">
              <a:buNone/>
            </a:pPr>
            <a:endParaRPr lang="pt-BR" dirty="0"/>
          </a:p>
          <a:p>
            <a:pPr lvl="1"/>
            <a:endParaRPr lang="pt-BR" dirty="0"/>
          </a:p>
        </p:txBody>
      </p:sp>
    </p:spTree>
    <p:extLst>
      <p:ext uri="{BB962C8B-B14F-4D97-AF65-F5344CB8AC3E}">
        <p14:creationId xmlns:p14="http://schemas.microsoft.com/office/powerpoint/2010/main" val="418659775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3AB78C-4A70-ED33-6088-7D978AFBD15F}"/>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20C0DDF2-0E52-0740-004B-2209C15740BF}"/>
              </a:ext>
            </a:extLst>
          </p:cNvPr>
          <p:cNvSpPr>
            <a:spLocks noGrp="1"/>
          </p:cNvSpPr>
          <p:nvPr>
            <p:ph type="title"/>
          </p:nvPr>
        </p:nvSpPr>
        <p:spPr/>
        <p:txBody>
          <a:bodyPr/>
          <a:lstStyle/>
          <a:p>
            <a:r>
              <a:rPr lang="pt-BR" dirty="0"/>
              <a:t>Temas dos seminários</a:t>
            </a:r>
          </a:p>
        </p:txBody>
      </p:sp>
      <p:sp>
        <p:nvSpPr>
          <p:cNvPr id="3" name="Espaço Reservado para Conteúdo 2">
            <a:extLst>
              <a:ext uri="{FF2B5EF4-FFF2-40B4-BE49-F238E27FC236}">
                <a16:creationId xmlns:a16="http://schemas.microsoft.com/office/drawing/2014/main" id="{CAA14ED1-BBC4-3217-0C26-BBA0501ACF3D}"/>
              </a:ext>
            </a:extLst>
          </p:cNvPr>
          <p:cNvSpPr>
            <a:spLocks noGrp="1"/>
          </p:cNvSpPr>
          <p:nvPr>
            <p:ph idx="1"/>
          </p:nvPr>
        </p:nvSpPr>
        <p:spPr>
          <a:xfrm>
            <a:off x="838199" y="1825624"/>
            <a:ext cx="11092543" cy="5032376"/>
          </a:xfrm>
        </p:spPr>
        <p:txBody>
          <a:bodyPr>
            <a:normAutofit/>
          </a:bodyPr>
          <a:lstStyle/>
          <a:p>
            <a:r>
              <a:rPr lang="pt-BR" dirty="0"/>
              <a:t>Computer Vision: </a:t>
            </a:r>
            <a:r>
              <a:rPr lang="pt-BR" dirty="0" err="1"/>
              <a:t>Object</a:t>
            </a:r>
            <a:r>
              <a:rPr lang="pt-BR" dirty="0"/>
              <a:t> </a:t>
            </a:r>
            <a:r>
              <a:rPr lang="pt-BR" dirty="0" err="1"/>
              <a:t>Detection</a:t>
            </a:r>
            <a:endParaRPr lang="pt-BR" dirty="0"/>
          </a:p>
          <a:p>
            <a:pPr lvl="1">
              <a:buFont typeface="Wingdings" panose="05000000000000000000" pitchFamily="2" charset="2"/>
              <a:buChar char="§"/>
            </a:pPr>
            <a:r>
              <a:rPr lang="pt-BR" dirty="0"/>
              <a:t>YOLOv8</a:t>
            </a:r>
          </a:p>
          <a:p>
            <a:pPr lvl="2">
              <a:buFont typeface="Wingdings" panose="05000000000000000000" pitchFamily="2" charset="2"/>
              <a:buChar char="ü"/>
            </a:pPr>
            <a:r>
              <a:rPr lang="pt-BR" dirty="0">
                <a:hlinkClick r:id="rId2"/>
              </a:rPr>
              <a:t>https://blog.roboflow.com/whats-new-in-yolov8/</a:t>
            </a:r>
          </a:p>
          <a:p>
            <a:pPr lvl="2">
              <a:buFont typeface="Wingdings" panose="05000000000000000000" pitchFamily="2" charset="2"/>
              <a:buChar char="ü"/>
            </a:pPr>
            <a:r>
              <a:rPr lang="pt-BR" dirty="0">
                <a:hlinkClick r:id="rId3"/>
              </a:rPr>
              <a:t>https://keras.io/examples/vision/yolov8/</a:t>
            </a:r>
            <a:endParaRPr lang="pt-BR" dirty="0"/>
          </a:p>
          <a:p>
            <a:pPr lvl="1">
              <a:buFont typeface="Wingdings" panose="05000000000000000000" pitchFamily="2" charset="2"/>
              <a:buChar char="§"/>
            </a:pPr>
            <a:r>
              <a:rPr lang="pt-BR" dirty="0"/>
              <a:t>YOLOv9</a:t>
            </a:r>
          </a:p>
          <a:p>
            <a:pPr lvl="2">
              <a:buFont typeface="Wingdings" panose="05000000000000000000" pitchFamily="2" charset="2"/>
              <a:buChar char="ü"/>
            </a:pPr>
            <a:r>
              <a:rPr lang="pt-BR" dirty="0">
                <a:hlinkClick r:id="rId4"/>
              </a:rPr>
              <a:t>https://arxiv.org/abs/2402.13616</a:t>
            </a:r>
            <a:endParaRPr lang="pt-BR" dirty="0"/>
          </a:p>
          <a:p>
            <a:pPr lvl="2">
              <a:buFont typeface="Wingdings" panose="05000000000000000000" pitchFamily="2" charset="2"/>
              <a:buChar char="ü"/>
            </a:pPr>
            <a:r>
              <a:rPr lang="pt-BR" dirty="0">
                <a:hlinkClick r:id="rId2"/>
              </a:rPr>
              <a:t>https://docs.ultralytics.com/pt/models/yolov9/#generalized-efficient-layer-aggregation-network-gelan</a:t>
            </a:r>
          </a:p>
          <a:p>
            <a:pPr lvl="2">
              <a:buFont typeface="Wingdings" panose="05000000000000000000" pitchFamily="2" charset="2"/>
              <a:buChar char="ü"/>
            </a:pPr>
            <a:r>
              <a:rPr lang="pt-BR" dirty="0">
                <a:hlinkClick r:id="rId2"/>
              </a:rPr>
              <a:t>https://github.com/WongKinYiu/yolov9?tab=readme-ov-file</a:t>
            </a:r>
          </a:p>
          <a:p>
            <a:pPr lvl="1">
              <a:buFont typeface="Wingdings" panose="05000000000000000000" pitchFamily="2" charset="2"/>
              <a:buChar char="§"/>
            </a:pPr>
            <a:r>
              <a:rPr lang="en-US" b="0" i="0" dirty="0">
                <a:solidFill>
                  <a:srgbClr val="000000"/>
                </a:solidFill>
                <a:effectLst/>
                <a:highlight>
                  <a:srgbClr val="FFFFFF"/>
                </a:highlight>
              </a:rPr>
              <a:t>YOLO-World: Real-Time Open-Vocabulary Object Detection</a:t>
            </a:r>
          </a:p>
          <a:p>
            <a:pPr lvl="2">
              <a:buFont typeface="Wingdings" panose="05000000000000000000" pitchFamily="2" charset="2"/>
              <a:buChar char="ü"/>
            </a:pPr>
            <a:r>
              <a:rPr lang="pt-BR" dirty="0">
                <a:hlinkClick r:id="rId2"/>
              </a:rPr>
              <a:t>https://arxiv.org/abs/2401.17270</a:t>
            </a:r>
            <a:endParaRPr lang="en-US" dirty="0">
              <a:solidFill>
                <a:srgbClr val="000000"/>
              </a:solidFill>
              <a:highlight>
                <a:srgbClr val="FFFFFF"/>
              </a:highlight>
              <a:latin typeface="Arial" panose="020B0604020202020204" pitchFamily="34" charset="0"/>
              <a:hlinkClick r:id="rId2"/>
            </a:endParaRPr>
          </a:p>
          <a:p>
            <a:pPr lvl="2">
              <a:buFont typeface="Wingdings" panose="05000000000000000000" pitchFamily="2" charset="2"/>
              <a:buChar char="ü"/>
            </a:pPr>
            <a:r>
              <a:rPr lang="pt-BR" dirty="0">
                <a:hlinkClick r:id="rId2"/>
              </a:rPr>
              <a:t>https://colab.research.google.com/github/roboflow-ai/notebooks/blob/main/notebooks/zero-shot-object-detection-with-yolo-world.ipynb</a:t>
            </a:r>
            <a:endParaRPr lang="en-US" dirty="0">
              <a:solidFill>
                <a:srgbClr val="000000"/>
              </a:solidFill>
              <a:highlight>
                <a:srgbClr val="FFFFFF"/>
              </a:highlight>
              <a:latin typeface="Arial" panose="020B0604020202020204" pitchFamily="34" charset="0"/>
              <a:hlinkClick r:id="rId2"/>
            </a:endParaRPr>
          </a:p>
          <a:p>
            <a:pPr lvl="2">
              <a:buFont typeface="Wingdings" panose="05000000000000000000" pitchFamily="2" charset="2"/>
              <a:buChar char="ü"/>
            </a:pPr>
            <a:r>
              <a:rPr lang="pt-BR" dirty="0">
                <a:hlinkClick r:id="rId2"/>
              </a:rPr>
              <a:t>https://www.youtube.com/watch?v=X7gKBGVz4vs&amp;feature=youtu.be</a:t>
            </a:r>
          </a:p>
          <a:p>
            <a:pPr lvl="2">
              <a:buFont typeface="Wingdings" panose="05000000000000000000" pitchFamily="2" charset="2"/>
              <a:buChar char="ü"/>
            </a:pPr>
            <a:endParaRPr lang="pt-BR" dirty="0"/>
          </a:p>
          <a:p>
            <a:pPr marL="914400" lvl="2" indent="0">
              <a:buNone/>
            </a:pPr>
            <a:endParaRPr lang="pt-BR" dirty="0"/>
          </a:p>
          <a:p>
            <a:pPr lvl="1"/>
            <a:endParaRPr lang="pt-BR" dirty="0"/>
          </a:p>
        </p:txBody>
      </p:sp>
    </p:spTree>
    <p:extLst>
      <p:ext uri="{BB962C8B-B14F-4D97-AF65-F5344CB8AC3E}">
        <p14:creationId xmlns:p14="http://schemas.microsoft.com/office/powerpoint/2010/main" val="291852512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3AB78C-4A70-ED33-6088-7D978AFBD15F}"/>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20C0DDF2-0E52-0740-004B-2209C15740BF}"/>
              </a:ext>
            </a:extLst>
          </p:cNvPr>
          <p:cNvSpPr>
            <a:spLocks noGrp="1"/>
          </p:cNvSpPr>
          <p:nvPr>
            <p:ph type="title"/>
          </p:nvPr>
        </p:nvSpPr>
        <p:spPr/>
        <p:txBody>
          <a:bodyPr/>
          <a:lstStyle/>
          <a:p>
            <a:r>
              <a:rPr lang="pt-BR" dirty="0"/>
              <a:t>Temas dos seminários</a:t>
            </a:r>
          </a:p>
        </p:txBody>
      </p:sp>
      <p:sp>
        <p:nvSpPr>
          <p:cNvPr id="3" name="Espaço Reservado para Conteúdo 2">
            <a:extLst>
              <a:ext uri="{FF2B5EF4-FFF2-40B4-BE49-F238E27FC236}">
                <a16:creationId xmlns:a16="http://schemas.microsoft.com/office/drawing/2014/main" id="{CAA14ED1-BBC4-3217-0C26-BBA0501ACF3D}"/>
              </a:ext>
            </a:extLst>
          </p:cNvPr>
          <p:cNvSpPr>
            <a:spLocks noGrp="1"/>
          </p:cNvSpPr>
          <p:nvPr>
            <p:ph idx="1"/>
          </p:nvPr>
        </p:nvSpPr>
        <p:spPr>
          <a:xfrm>
            <a:off x="838199" y="1825624"/>
            <a:ext cx="11092543" cy="5032376"/>
          </a:xfrm>
        </p:spPr>
        <p:txBody>
          <a:bodyPr>
            <a:normAutofit/>
          </a:bodyPr>
          <a:lstStyle/>
          <a:p>
            <a:r>
              <a:rPr lang="pt-BR" dirty="0"/>
              <a:t>Computer Vision: </a:t>
            </a:r>
            <a:r>
              <a:rPr lang="pt-BR" dirty="0" err="1"/>
              <a:t>Object</a:t>
            </a:r>
            <a:r>
              <a:rPr lang="pt-BR" dirty="0"/>
              <a:t> </a:t>
            </a:r>
            <a:r>
              <a:rPr lang="pt-BR" dirty="0" err="1"/>
              <a:t>Detection</a:t>
            </a:r>
            <a:endParaRPr lang="pt-BR" dirty="0"/>
          </a:p>
          <a:p>
            <a:pPr lvl="1">
              <a:buFont typeface="Wingdings" panose="05000000000000000000" pitchFamily="2" charset="2"/>
              <a:buChar char="§"/>
            </a:pPr>
            <a:r>
              <a:rPr lang="pt-BR" dirty="0" err="1"/>
              <a:t>RetinaNet</a:t>
            </a:r>
            <a:endParaRPr lang="pt-BR" dirty="0"/>
          </a:p>
          <a:p>
            <a:pPr lvl="2">
              <a:buFont typeface="Wingdings" panose="05000000000000000000" pitchFamily="2" charset="2"/>
              <a:buChar char="ü"/>
            </a:pPr>
            <a:r>
              <a:rPr lang="pt-BR" dirty="0">
                <a:hlinkClick r:id="rId2"/>
              </a:rPr>
              <a:t>https://arxiv.org/abs/1708.02002</a:t>
            </a:r>
          </a:p>
          <a:p>
            <a:pPr lvl="2">
              <a:buFont typeface="Wingdings" panose="05000000000000000000" pitchFamily="2" charset="2"/>
              <a:buChar char="ü"/>
            </a:pPr>
            <a:r>
              <a:rPr lang="pt-BR" dirty="0">
                <a:hlinkClick r:id="rId3"/>
              </a:rPr>
              <a:t>https://keras.io/examples/vision/retinanet/</a:t>
            </a:r>
            <a:endParaRPr lang="pt-BR" dirty="0"/>
          </a:p>
          <a:p>
            <a:pPr lvl="1">
              <a:buFont typeface="Wingdings" panose="05000000000000000000" pitchFamily="2" charset="2"/>
              <a:buChar char="§"/>
            </a:pPr>
            <a:r>
              <a:rPr lang="pt-BR" dirty="0" err="1">
                <a:effectLst/>
              </a:rPr>
              <a:t>Faster</a:t>
            </a:r>
            <a:r>
              <a:rPr lang="pt-BR" dirty="0">
                <a:effectLst/>
              </a:rPr>
              <a:t> </a:t>
            </a:r>
            <a:r>
              <a:rPr lang="pt-BR" dirty="0" err="1">
                <a:effectLst/>
              </a:rPr>
              <a:t>Objects</a:t>
            </a:r>
            <a:r>
              <a:rPr lang="pt-BR" dirty="0">
                <a:effectLst/>
              </a:rPr>
              <a:t>, More </a:t>
            </a:r>
            <a:r>
              <a:rPr lang="pt-BR" dirty="0" err="1">
                <a:effectLst/>
              </a:rPr>
              <a:t>Objects</a:t>
            </a:r>
            <a:r>
              <a:rPr lang="pt-BR" dirty="0">
                <a:effectLst/>
              </a:rPr>
              <a:t> (</a:t>
            </a:r>
            <a:r>
              <a:rPr lang="pt-BR" dirty="0"/>
              <a:t>FOMO)</a:t>
            </a:r>
          </a:p>
          <a:p>
            <a:pPr lvl="2">
              <a:buFont typeface="Wingdings" panose="05000000000000000000" pitchFamily="2" charset="2"/>
              <a:buChar char="ü"/>
            </a:pPr>
            <a:r>
              <a:rPr lang="pt-BR" dirty="0">
                <a:hlinkClick r:id="rId4"/>
              </a:rPr>
              <a:t>https://docs.edgeimpulse.com/docs/edge-impulse-studio/learning-blocks/object-detection/fomo-object-detection-for-constrained-devices</a:t>
            </a:r>
            <a:endParaRPr lang="pt-BR" dirty="0"/>
          </a:p>
          <a:p>
            <a:pPr lvl="2">
              <a:buFont typeface="Wingdings" panose="05000000000000000000" pitchFamily="2" charset="2"/>
              <a:buChar char="ü"/>
            </a:pPr>
            <a:r>
              <a:rPr lang="pt-BR" dirty="0">
                <a:hlinkClick r:id="rId5"/>
              </a:rPr>
              <a:t>https://docs.edgeimpulse.com/docs/tutorials/end-to-end-tutorials/object-detection/detect-objects-using-fomo</a:t>
            </a:r>
            <a:endParaRPr lang="pt-BR" dirty="0"/>
          </a:p>
          <a:p>
            <a:pPr lvl="1">
              <a:buFont typeface="Wingdings" panose="05000000000000000000" pitchFamily="2" charset="2"/>
              <a:buChar char="§"/>
            </a:pPr>
            <a:r>
              <a:rPr lang="en-US" dirty="0"/>
              <a:t>DETRs Beat YOLOs on Real-time Object Detection</a:t>
            </a:r>
          </a:p>
          <a:p>
            <a:pPr lvl="2">
              <a:buFont typeface="Wingdings" panose="05000000000000000000" pitchFamily="2" charset="2"/>
              <a:buChar char="ü"/>
            </a:pPr>
            <a:r>
              <a:rPr lang="pt-BR" dirty="0">
                <a:hlinkClick r:id="rId6"/>
              </a:rPr>
              <a:t>https://arxiv.org/abs/2304.08069</a:t>
            </a:r>
            <a:endParaRPr lang="en-US" dirty="0"/>
          </a:p>
          <a:p>
            <a:pPr lvl="2">
              <a:buFont typeface="Wingdings" panose="05000000000000000000" pitchFamily="2" charset="2"/>
              <a:buChar char="ü"/>
            </a:pPr>
            <a:r>
              <a:rPr lang="pt-BR" dirty="0">
                <a:hlinkClick r:id="rId7"/>
              </a:rPr>
              <a:t>https://github.com/lyuwenyu</a:t>
            </a:r>
            <a:r>
              <a:rPr lang="pt-BR">
                <a:hlinkClick r:id="rId7"/>
              </a:rPr>
              <a:t>/RT-DETR</a:t>
            </a:r>
            <a:endParaRPr lang="pt-BR" dirty="0"/>
          </a:p>
          <a:p>
            <a:pPr marL="914400" lvl="2" indent="0">
              <a:buNone/>
            </a:pPr>
            <a:endParaRPr lang="pt-BR" dirty="0"/>
          </a:p>
          <a:p>
            <a:pPr lvl="1"/>
            <a:endParaRPr lang="pt-BR" dirty="0"/>
          </a:p>
        </p:txBody>
      </p:sp>
    </p:spTree>
    <p:extLst>
      <p:ext uri="{BB962C8B-B14F-4D97-AF65-F5344CB8AC3E}">
        <p14:creationId xmlns:p14="http://schemas.microsoft.com/office/powerpoint/2010/main" val="345580133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70C7E2D-5398-4F5E-7000-BA72FF1C6228}"/>
              </a:ext>
            </a:extLst>
          </p:cNvPr>
          <p:cNvSpPr>
            <a:spLocks noGrp="1"/>
          </p:cNvSpPr>
          <p:nvPr>
            <p:ph type="title"/>
          </p:nvPr>
        </p:nvSpPr>
        <p:spPr/>
        <p:txBody>
          <a:bodyPr/>
          <a:lstStyle/>
          <a:p>
            <a:r>
              <a:rPr lang="pt-BR" dirty="0"/>
              <a:t>Temas dos seminários</a:t>
            </a:r>
          </a:p>
        </p:txBody>
      </p:sp>
      <p:sp>
        <p:nvSpPr>
          <p:cNvPr id="3" name="Espaço Reservado para Conteúdo 2">
            <a:extLst>
              <a:ext uri="{FF2B5EF4-FFF2-40B4-BE49-F238E27FC236}">
                <a16:creationId xmlns:a16="http://schemas.microsoft.com/office/drawing/2014/main" id="{BA790209-FBBD-71F4-6F9F-502DB6462A33}"/>
              </a:ext>
            </a:extLst>
          </p:cNvPr>
          <p:cNvSpPr>
            <a:spLocks noGrp="1"/>
          </p:cNvSpPr>
          <p:nvPr>
            <p:ph idx="1"/>
          </p:nvPr>
        </p:nvSpPr>
        <p:spPr>
          <a:xfrm>
            <a:off x="838199" y="1825624"/>
            <a:ext cx="11146971" cy="5032375"/>
          </a:xfrm>
        </p:spPr>
        <p:txBody>
          <a:bodyPr>
            <a:normAutofit/>
          </a:bodyPr>
          <a:lstStyle/>
          <a:p>
            <a:r>
              <a:rPr lang="pt-BR" dirty="0"/>
              <a:t>Computer Vision: </a:t>
            </a:r>
            <a:r>
              <a:rPr lang="pt-BR" dirty="0" err="1"/>
              <a:t>Image</a:t>
            </a:r>
            <a:r>
              <a:rPr lang="pt-BR" dirty="0"/>
              <a:t> </a:t>
            </a:r>
            <a:r>
              <a:rPr lang="pt-BR" dirty="0" err="1"/>
              <a:t>Enhancement</a:t>
            </a:r>
            <a:endParaRPr lang="pt-BR" dirty="0"/>
          </a:p>
          <a:p>
            <a:pPr lvl="1">
              <a:buFont typeface="Wingdings" panose="05000000000000000000" pitchFamily="2" charset="2"/>
              <a:buChar char="§"/>
            </a:pPr>
            <a:r>
              <a:rPr lang="pt-BR" dirty="0" err="1"/>
              <a:t>MIRNet</a:t>
            </a:r>
            <a:endParaRPr lang="pt-BR" dirty="0"/>
          </a:p>
          <a:p>
            <a:pPr lvl="2">
              <a:buFont typeface="Wingdings" panose="05000000000000000000" pitchFamily="2" charset="2"/>
              <a:buChar char="ü"/>
            </a:pPr>
            <a:r>
              <a:rPr lang="pt-BR" dirty="0">
                <a:hlinkClick r:id="rId2"/>
              </a:rPr>
              <a:t>https://arxiv.org/abs/2003.06792</a:t>
            </a:r>
            <a:endParaRPr lang="pt-BR" dirty="0">
              <a:hlinkClick r:id="rId3"/>
            </a:endParaRPr>
          </a:p>
          <a:p>
            <a:pPr lvl="2">
              <a:buFont typeface="Wingdings" panose="05000000000000000000" pitchFamily="2" charset="2"/>
              <a:buChar char="ü"/>
            </a:pPr>
            <a:r>
              <a:rPr lang="pt-BR" dirty="0">
                <a:hlinkClick r:id="rId4"/>
              </a:rPr>
              <a:t>https://keras.io/examples/vision/mirnet/</a:t>
            </a:r>
            <a:endParaRPr lang="pt-BR" dirty="0"/>
          </a:p>
          <a:p>
            <a:pPr lvl="1">
              <a:buFont typeface="Wingdings" panose="05000000000000000000" pitchFamily="2" charset="2"/>
              <a:buChar char="§"/>
            </a:pPr>
            <a:r>
              <a:rPr lang="en-US" dirty="0"/>
              <a:t>Enhanced Deep Residual Networks for Single Image Super-Resolution (EDSR)</a:t>
            </a:r>
          </a:p>
          <a:p>
            <a:pPr lvl="2">
              <a:buFont typeface="Wingdings" panose="05000000000000000000" pitchFamily="2" charset="2"/>
              <a:buChar char="ü"/>
            </a:pPr>
            <a:r>
              <a:rPr lang="pt-BR" dirty="0">
                <a:hlinkClick r:id="rId5"/>
              </a:rPr>
              <a:t>https://arxiv.org/abs/1707.02921</a:t>
            </a:r>
            <a:endParaRPr lang="pt-BR" dirty="0"/>
          </a:p>
          <a:p>
            <a:pPr lvl="2">
              <a:buFont typeface="Wingdings" panose="05000000000000000000" pitchFamily="2" charset="2"/>
              <a:buChar char="ü"/>
            </a:pPr>
            <a:r>
              <a:rPr lang="pt-BR" dirty="0">
                <a:hlinkClick r:id="rId6"/>
              </a:rPr>
              <a:t>https://keras.io/examples/vision/edsr/</a:t>
            </a:r>
            <a:endParaRPr lang="pt-BR" dirty="0"/>
          </a:p>
          <a:p>
            <a:r>
              <a:rPr lang="pt-BR" dirty="0"/>
              <a:t>Computer Vision: Performance </a:t>
            </a:r>
            <a:r>
              <a:rPr lang="pt-BR" dirty="0" err="1"/>
              <a:t>recipes</a:t>
            </a:r>
            <a:endParaRPr lang="pt-BR" sz="2400" dirty="0"/>
          </a:p>
          <a:p>
            <a:pPr lvl="1">
              <a:buFont typeface="Wingdings" panose="05000000000000000000" pitchFamily="2" charset="2"/>
              <a:buChar char="§"/>
            </a:pPr>
            <a:r>
              <a:rPr lang="en-US" dirty="0"/>
              <a:t>Learning to Resize in Computer Vision</a:t>
            </a:r>
          </a:p>
          <a:p>
            <a:pPr lvl="2">
              <a:buFont typeface="Wingdings" panose="05000000000000000000" pitchFamily="2" charset="2"/>
              <a:buChar char="ü"/>
            </a:pPr>
            <a:r>
              <a:rPr lang="en-US" dirty="0">
                <a:hlinkClick r:id="rId7"/>
              </a:rPr>
              <a:t>https://arxiv.org/abs/2103.09950v1</a:t>
            </a:r>
            <a:endParaRPr lang="en-US" dirty="0"/>
          </a:p>
          <a:p>
            <a:pPr lvl="2">
              <a:buFont typeface="Wingdings" panose="05000000000000000000" pitchFamily="2" charset="2"/>
              <a:buChar char="ü"/>
            </a:pPr>
            <a:r>
              <a:rPr lang="pt-BR" dirty="0">
                <a:hlinkClick r:id="rId8"/>
              </a:rPr>
              <a:t>https://keras.io/examples/vision/learnable_resizer/</a:t>
            </a:r>
            <a:endParaRPr lang="pt-BR" dirty="0"/>
          </a:p>
          <a:p>
            <a:endParaRPr lang="pt-BR" dirty="0"/>
          </a:p>
        </p:txBody>
      </p:sp>
    </p:spTree>
    <p:extLst>
      <p:ext uri="{BB962C8B-B14F-4D97-AF65-F5344CB8AC3E}">
        <p14:creationId xmlns:p14="http://schemas.microsoft.com/office/powerpoint/2010/main" val="262104538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70C7E2D-5398-4F5E-7000-BA72FF1C6228}"/>
              </a:ext>
            </a:extLst>
          </p:cNvPr>
          <p:cNvSpPr>
            <a:spLocks noGrp="1"/>
          </p:cNvSpPr>
          <p:nvPr>
            <p:ph type="title"/>
          </p:nvPr>
        </p:nvSpPr>
        <p:spPr/>
        <p:txBody>
          <a:bodyPr/>
          <a:lstStyle/>
          <a:p>
            <a:r>
              <a:rPr lang="pt-BR" dirty="0"/>
              <a:t>Temas dos seminários</a:t>
            </a:r>
          </a:p>
        </p:txBody>
      </p:sp>
      <p:sp>
        <p:nvSpPr>
          <p:cNvPr id="3" name="Espaço Reservado para Conteúdo 2">
            <a:extLst>
              <a:ext uri="{FF2B5EF4-FFF2-40B4-BE49-F238E27FC236}">
                <a16:creationId xmlns:a16="http://schemas.microsoft.com/office/drawing/2014/main" id="{BA790209-FBBD-71F4-6F9F-502DB6462A33}"/>
              </a:ext>
            </a:extLst>
          </p:cNvPr>
          <p:cNvSpPr>
            <a:spLocks noGrp="1"/>
          </p:cNvSpPr>
          <p:nvPr>
            <p:ph idx="1"/>
          </p:nvPr>
        </p:nvSpPr>
        <p:spPr/>
        <p:txBody>
          <a:bodyPr/>
          <a:lstStyle/>
          <a:p>
            <a:r>
              <a:rPr lang="pt-BR" dirty="0"/>
              <a:t>Computer Vision: </a:t>
            </a:r>
            <a:r>
              <a:rPr lang="pt-BR" b="0" i="0" dirty="0">
                <a:solidFill>
                  <a:srgbClr val="000000"/>
                </a:solidFill>
                <a:effectLst/>
              </a:rPr>
              <a:t>3D </a:t>
            </a:r>
            <a:r>
              <a:rPr lang="pt-BR" b="0" i="0" dirty="0" err="1">
                <a:solidFill>
                  <a:srgbClr val="000000"/>
                </a:solidFill>
                <a:effectLst/>
              </a:rPr>
              <a:t>Object</a:t>
            </a:r>
            <a:r>
              <a:rPr lang="pt-BR" b="0" i="0" dirty="0">
                <a:solidFill>
                  <a:srgbClr val="000000"/>
                </a:solidFill>
                <a:effectLst/>
              </a:rPr>
              <a:t> </a:t>
            </a:r>
            <a:r>
              <a:rPr lang="pt-BR" b="0" i="0" dirty="0" err="1">
                <a:solidFill>
                  <a:srgbClr val="000000"/>
                </a:solidFill>
                <a:effectLst/>
              </a:rPr>
              <a:t>Reconstruction</a:t>
            </a:r>
            <a:endParaRPr lang="pt-BR" b="0" i="0" dirty="0">
              <a:solidFill>
                <a:srgbClr val="000000"/>
              </a:solidFill>
              <a:effectLst/>
            </a:endParaRPr>
          </a:p>
          <a:p>
            <a:pPr lvl="1">
              <a:buFont typeface="Wingdings" panose="05000000000000000000" pitchFamily="2" charset="2"/>
              <a:buChar char="§"/>
            </a:pPr>
            <a:r>
              <a:rPr lang="en-US" b="0" i="0" dirty="0" err="1">
                <a:solidFill>
                  <a:srgbClr val="000000"/>
                </a:solidFill>
                <a:effectLst/>
              </a:rPr>
              <a:t>TripoSR</a:t>
            </a:r>
            <a:r>
              <a:rPr lang="en-US" b="0" i="0" dirty="0">
                <a:solidFill>
                  <a:srgbClr val="000000"/>
                </a:solidFill>
                <a:effectLst/>
              </a:rPr>
              <a:t>: Fast 3D Object Reconstruction from a Single Image</a:t>
            </a:r>
            <a:endParaRPr lang="pt-BR" dirty="0">
              <a:hlinkClick r:id="rId2"/>
            </a:endParaRPr>
          </a:p>
          <a:p>
            <a:pPr lvl="2">
              <a:buFont typeface="Wingdings" panose="05000000000000000000" pitchFamily="2" charset="2"/>
              <a:buChar char="ü"/>
            </a:pPr>
            <a:r>
              <a:rPr lang="pt-BR" dirty="0">
                <a:hlinkClick r:id="rId2"/>
              </a:rPr>
              <a:t>https://arxiv.org/abs/2403.02151</a:t>
            </a:r>
            <a:endParaRPr lang="pt-BR" dirty="0"/>
          </a:p>
          <a:p>
            <a:pPr lvl="2">
              <a:buFont typeface="Wingdings" panose="05000000000000000000" pitchFamily="2" charset="2"/>
              <a:buChar char="ü"/>
            </a:pPr>
            <a:r>
              <a:rPr lang="pt-BR" dirty="0">
                <a:hlinkClick r:id="rId3"/>
              </a:rPr>
              <a:t>https://paperswithcode.com/paper/triposr-fast-3d-object-reconstruction-from-a</a:t>
            </a:r>
            <a:endParaRPr lang="pt-BR" dirty="0"/>
          </a:p>
          <a:p>
            <a:pPr lvl="1"/>
            <a:endParaRPr lang="pt-BR" dirty="0"/>
          </a:p>
          <a:p>
            <a:pPr marL="914400" lvl="2" indent="0">
              <a:buNone/>
            </a:pPr>
            <a:endParaRPr lang="pt-BR" dirty="0"/>
          </a:p>
          <a:p>
            <a:pPr marL="914400" lvl="2" indent="0">
              <a:buNone/>
            </a:pPr>
            <a:endParaRPr lang="pt-BR" dirty="0"/>
          </a:p>
          <a:p>
            <a:pPr lvl="1"/>
            <a:endParaRPr lang="pt-BR" dirty="0"/>
          </a:p>
          <a:p>
            <a:endParaRPr lang="pt-BR" dirty="0"/>
          </a:p>
        </p:txBody>
      </p:sp>
    </p:spTree>
    <p:extLst>
      <p:ext uri="{BB962C8B-B14F-4D97-AF65-F5344CB8AC3E}">
        <p14:creationId xmlns:p14="http://schemas.microsoft.com/office/powerpoint/2010/main" val="173785387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050D32-3E32-0E68-EE2F-10DEBF5F9E34}"/>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06C9BF47-FE25-64EB-E7D8-257F36BF0637}"/>
              </a:ext>
            </a:extLst>
          </p:cNvPr>
          <p:cNvSpPr>
            <a:spLocks noGrp="1"/>
          </p:cNvSpPr>
          <p:nvPr>
            <p:ph type="title"/>
          </p:nvPr>
        </p:nvSpPr>
        <p:spPr/>
        <p:txBody>
          <a:bodyPr/>
          <a:lstStyle/>
          <a:p>
            <a:r>
              <a:rPr lang="pt-BR" dirty="0"/>
              <a:t>Temas dos seminários</a:t>
            </a:r>
          </a:p>
        </p:txBody>
      </p:sp>
      <p:sp>
        <p:nvSpPr>
          <p:cNvPr id="3" name="Espaço Reservado para Conteúdo 2">
            <a:extLst>
              <a:ext uri="{FF2B5EF4-FFF2-40B4-BE49-F238E27FC236}">
                <a16:creationId xmlns:a16="http://schemas.microsoft.com/office/drawing/2014/main" id="{85CD2A47-67FC-5F78-FB47-48CDDDA1C93F}"/>
              </a:ext>
            </a:extLst>
          </p:cNvPr>
          <p:cNvSpPr>
            <a:spLocks noGrp="1"/>
          </p:cNvSpPr>
          <p:nvPr>
            <p:ph idx="1"/>
          </p:nvPr>
        </p:nvSpPr>
        <p:spPr>
          <a:xfrm>
            <a:off x="838199" y="1825624"/>
            <a:ext cx="11005457" cy="5032375"/>
          </a:xfrm>
        </p:spPr>
        <p:txBody>
          <a:bodyPr>
            <a:normAutofit/>
          </a:bodyPr>
          <a:lstStyle/>
          <a:p>
            <a:r>
              <a:rPr lang="pt-BR" dirty="0" err="1"/>
              <a:t>Reinforcement</a:t>
            </a:r>
            <a:r>
              <a:rPr lang="pt-BR" dirty="0"/>
              <a:t> Learning</a:t>
            </a:r>
          </a:p>
          <a:p>
            <a:pPr lvl="1">
              <a:buFont typeface="Wingdings" panose="05000000000000000000" pitchFamily="2" charset="2"/>
              <a:buChar char="§"/>
            </a:pPr>
            <a:r>
              <a:rPr lang="pt-BR" dirty="0" err="1"/>
              <a:t>Deep</a:t>
            </a:r>
            <a:r>
              <a:rPr lang="pt-BR" dirty="0"/>
              <a:t> </a:t>
            </a:r>
            <a:r>
              <a:rPr lang="pt-BR" dirty="0" err="1"/>
              <a:t>Q-Learning</a:t>
            </a:r>
            <a:endParaRPr lang="pt-BR" dirty="0"/>
          </a:p>
          <a:p>
            <a:pPr lvl="2">
              <a:buFont typeface="Wingdings" panose="05000000000000000000" pitchFamily="2" charset="2"/>
              <a:buChar char="ü"/>
            </a:pPr>
            <a:r>
              <a:rPr lang="pt-BR" dirty="0">
                <a:hlinkClick r:id="rId2"/>
              </a:rPr>
              <a:t>https://storage.googleapis.com/deepmind-media/dqn/DQNNaturePaper.pdf</a:t>
            </a:r>
            <a:endParaRPr lang="pt-BR" dirty="0"/>
          </a:p>
          <a:p>
            <a:pPr lvl="2">
              <a:buFont typeface="Wingdings" panose="05000000000000000000" pitchFamily="2" charset="2"/>
              <a:buChar char="ü"/>
            </a:pPr>
            <a:r>
              <a:rPr lang="pt-BR" dirty="0">
                <a:hlinkClick r:id="rId3"/>
              </a:rPr>
              <a:t>https://keras.io/examples/rl/deep_q_network_breakout/</a:t>
            </a:r>
            <a:endParaRPr lang="pt-BR" dirty="0"/>
          </a:p>
          <a:p>
            <a:pPr lvl="2">
              <a:buFont typeface="Wingdings" panose="05000000000000000000" pitchFamily="2" charset="2"/>
              <a:buChar char="ü"/>
            </a:pPr>
            <a:r>
              <a:rPr lang="pt-BR" dirty="0">
                <a:hlinkClick r:id="rId4"/>
              </a:rPr>
              <a:t>https://www.tensorflow.org/agents/tutorials/0_intro_rl?hl=pt-br</a:t>
            </a:r>
            <a:endParaRPr lang="pt-BR" dirty="0"/>
          </a:p>
          <a:p>
            <a:pPr lvl="1">
              <a:buFont typeface="Wingdings" panose="05000000000000000000" pitchFamily="2" charset="2"/>
              <a:buChar char="§"/>
            </a:pPr>
            <a:r>
              <a:rPr lang="en-US" dirty="0"/>
              <a:t>Deep Deterministic Policy Gradient (DDPG)</a:t>
            </a:r>
          </a:p>
          <a:p>
            <a:pPr lvl="2">
              <a:buFont typeface="Wingdings" panose="05000000000000000000" pitchFamily="2" charset="2"/>
              <a:buChar char="ü"/>
            </a:pPr>
            <a:r>
              <a:rPr lang="en-US" dirty="0">
                <a:hlinkClick r:id="rId5"/>
              </a:rPr>
              <a:t>https://arxiv.org/pdf/1509.02971.pdf</a:t>
            </a:r>
            <a:endParaRPr lang="en-US" dirty="0"/>
          </a:p>
          <a:p>
            <a:pPr lvl="2">
              <a:buFont typeface="Wingdings" panose="05000000000000000000" pitchFamily="2" charset="2"/>
              <a:buChar char="ü"/>
            </a:pPr>
            <a:r>
              <a:rPr lang="en-US" dirty="0">
                <a:hlinkClick r:id="rId6"/>
              </a:rPr>
              <a:t>https://keras.io/examples/rl/ddpg_pendulum/</a:t>
            </a:r>
            <a:endParaRPr lang="en-US" dirty="0"/>
          </a:p>
          <a:p>
            <a:pPr lvl="1">
              <a:buFont typeface="Wingdings" panose="05000000000000000000" pitchFamily="2" charset="2"/>
              <a:buChar char="§"/>
            </a:pPr>
            <a:r>
              <a:rPr lang="pt-BR" dirty="0" err="1"/>
              <a:t>Actor</a:t>
            </a:r>
            <a:r>
              <a:rPr lang="pt-BR" dirty="0"/>
              <a:t> </a:t>
            </a:r>
            <a:r>
              <a:rPr lang="pt-BR" dirty="0" err="1"/>
              <a:t>Critic</a:t>
            </a:r>
            <a:r>
              <a:rPr lang="pt-BR" dirty="0"/>
              <a:t> </a:t>
            </a:r>
            <a:r>
              <a:rPr lang="pt-BR" dirty="0" err="1"/>
              <a:t>Method</a:t>
            </a:r>
            <a:endParaRPr lang="pt-BR" dirty="0"/>
          </a:p>
          <a:p>
            <a:pPr lvl="2">
              <a:buFont typeface="Wingdings" panose="05000000000000000000" pitchFamily="2" charset="2"/>
              <a:buChar char="ü"/>
            </a:pPr>
            <a:r>
              <a:rPr lang="pt-BR" dirty="0">
                <a:hlinkClick r:id="rId7"/>
              </a:rPr>
              <a:t>https://inria.hal.science/hal-00840470/document</a:t>
            </a:r>
            <a:endParaRPr lang="pt-BR" dirty="0"/>
          </a:p>
          <a:p>
            <a:pPr lvl="2">
              <a:buFont typeface="Wingdings" panose="05000000000000000000" pitchFamily="2" charset="2"/>
              <a:buChar char="ü"/>
            </a:pPr>
            <a:r>
              <a:rPr lang="pt-BR" dirty="0">
                <a:hlinkClick r:id="rId8"/>
              </a:rPr>
              <a:t>https://keras.io/examples/rl/actor_critic_cartpole/</a:t>
            </a:r>
            <a:endParaRPr lang="pt-BR" dirty="0"/>
          </a:p>
          <a:p>
            <a:pPr marL="914400" lvl="2" indent="0">
              <a:buNone/>
            </a:pPr>
            <a:endParaRPr lang="pt-BR" sz="2400" dirty="0"/>
          </a:p>
          <a:p>
            <a:pPr marL="0" indent="0">
              <a:buNone/>
            </a:pPr>
            <a:endParaRPr lang="en-US" sz="2400" dirty="0"/>
          </a:p>
          <a:p>
            <a:pPr marL="914400" lvl="2" indent="0">
              <a:buNone/>
            </a:pPr>
            <a:endParaRPr lang="en-US" sz="2400" dirty="0"/>
          </a:p>
          <a:p>
            <a:pPr lvl="2">
              <a:buFont typeface="Wingdings" panose="05000000000000000000" pitchFamily="2" charset="2"/>
              <a:buChar char="ü"/>
            </a:pPr>
            <a:endParaRPr lang="pt-BR" dirty="0"/>
          </a:p>
          <a:p>
            <a:pPr marL="914400" lvl="2" indent="0">
              <a:buNone/>
            </a:pPr>
            <a:endParaRPr lang="pt-BR" dirty="0"/>
          </a:p>
          <a:p>
            <a:pPr marL="914400" lvl="2" indent="0">
              <a:buNone/>
            </a:pPr>
            <a:endParaRPr lang="pt-BR" dirty="0"/>
          </a:p>
          <a:p>
            <a:pPr lvl="1"/>
            <a:endParaRPr lang="pt-BR" dirty="0"/>
          </a:p>
        </p:txBody>
      </p:sp>
    </p:spTree>
    <p:extLst>
      <p:ext uri="{BB962C8B-B14F-4D97-AF65-F5344CB8AC3E}">
        <p14:creationId xmlns:p14="http://schemas.microsoft.com/office/powerpoint/2010/main" val="406149562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59CF8C-A5CA-D922-15C9-90E83F41C16F}"/>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F0E0D2C5-2C7F-FF98-F6E4-6A6D35AE3301}"/>
              </a:ext>
            </a:extLst>
          </p:cNvPr>
          <p:cNvSpPr>
            <a:spLocks noGrp="1"/>
          </p:cNvSpPr>
          <p:nvPr>
            <p:ph type="title"/>
          </p:nvPr>
        </p:nvSpPr>
        <p:spPr/>
        <p:txBody>
          <a:bodyPr/>
          <a:lstStyle/>
          <a:p>
            <a:r>
              <a:rPr lang="pt-BR" dirty="0"/>
              <a:t>Temas dos seminários</a:t>
            </a:r>
          </a:p>
        </p:txBody>
      </p:sp>
      <p:sp>
        <p:nvSpPr>
          <p:cNvPr id="3" name="Espaço Reservado para Conteúdo 2">
            <a:extLst>
              <a:ext uri="{FF2B5EF4-FFF2-40B4-BE49-F238E27FC236}">
                <a16:creationId xmlns:a16="http://schemas.microsoft.com/office/drawing/2014/main" id="{164D262D-D1D5-2FFA-8E32-3025F99BDE7F}"/>
              </a:ext>
            </a:extLst>
          </p:cNvPr>
          <p:cNvSpPr>
            <a:spLocks noGrp="1"/>
          </p:cNvSpPr>
          <p:nvPr>
            <p:ph idx="1"/>
          </p:nvPr>
        </p:nvSpPr>
        <p:spPr>
          <a:xfrm>
            <a:off x="838200" y="1825624"/>
            <a:ext cx="11114314" cy="5032375"/>
          </a:xfrm>
        </p:spPr>
        <p:txBody>
          <a:bodyPr>
            <a:normAutofit/>
          </a:bodyPr>
          <a:lstStyle/>
          <a:p>
            <a:r>
              <a:rPr lang="pt-BR" dirty="0"/>
              <a:t>Natural </a:t>
            </a:r>
            <a:r>
              <a:rPr lang="pt-BR" dirty="0" err="1"/>
              <a:t>Language</a:t>
            </a:r>
            <a:r>
              <a:rPr lang="pt-BR" dirty="0"/>
              <a:t> </a:t>
            </a:r>
            <a:r>
              <a:rPr lang="pt-BR" dirty="0" err="1"/>
              <a:t>Processing</a:t>
            </a:r>
            <a:r>
              <a:rPr lang="pt-BR" dirty="0"/>
              <a:t>: </a:t>
            </a:r>
            <a:r>
              <a:rPr lang="pt-BR" dirty="0" err="1"/>
              <a:t>Text</a:t>
            </a:r>
            <a:r>
              <a:rPr lang="pt-BR" dirty="0"/>
              <a:t> </a:t>
            </a:r>
            <a:r>
              <a:rPr lang="pt-BR" b="0" i="0" dirty="0" err="1">
                <a:solidFill>
                  <a:srgbClr val="212529"/>
                </a:solidFill>
                <a:effectLst/>
              </a:rPr>
              <a:t>summarization</a:t>
            </a:r>
            <a:endParaRPr lang="pt-BR" dirty="0"/>
          </a:p>
          <a:p>
            <a:pPr lvl="1">
              <a:buFont typeface="Wingdings" panose="05000000000000000000" pitchFamily="2" charset="2"/>
              <a:buChar char="§"/>
            </a:pPr>
            <a:r>
              <a:rPr lang="pt-BR" dirty="0" err="1"/>
              <a:t>Bidirectional</a:t>
            </a:r>
            <a:r>
              <a:rPr lang="pt-BR" dirty="0"/>
              <a:t> </a:t>
            </a:r>
            <a:r>
              <a:rPr lang="pt-BR" dirty="0" err="1"/>
              <a:t>Autoregressive</a:t>
            </a:r>
            <a:r>
              <a:rPr lang="pt-BR" dirty="0"/>
              <a:t> </a:t>
            </a:r>
            <a:r>
              <a:rPr lang="pt-BR" dirty="0" err="1"/>
              <a:t>Transformer</a:t>
            </a:r>
            <a:r>
              <a:rPr lang="pt-BR" dirty="0"/>
              <a:t> (BART)</a:t>
            </a:r>
          </a:p>
          <a:p>
            <a:pPr lvl="2">
              <a:buFont typeface="Wingdings" panose="05000000000000000000" pitchFamily="2" charset="2"/>
              <a:buChar char="ü"/>
            </a:pPr>
            <a:r>
              <a:rPr lang="pt-BR" dirty="0">
                <a:hlinkClick r:id="rId2"/>
              </a:rPr>
              <a:t>https://arxiv.org/abs/1910.13461</a:t>
            </a:r>
            <a:endParaRPr lang="pt-BR" dirty="0"/>
          </a:p>
          <a:p>
            <a:pPr lvl="2">
              <a:buFont typeface="Wingdings" panose="05000000000000000000" pitchFamily="2" charset="2"/>
              <a:buChar char="ü"/>
            </a:pPr>
            <a:r>
              <a:rPr lang="pt-BR" dirty="0">
                <a:hlinkClick r:id="rId3"/>
              </a:rPr>
              <a:t>https://keras.io/examples/nlp/abstractive_summarization_with_bart/</a:t>
            </a:r>
            <a:endParaRPr lang="pt-BR" dirty="0"/>
          </a:p>
          <a:p>
            <a:r>
              <a:rPr lang="pt-BR" dirty="0"/>
              <a:t>Natural </a:t>
            </a:r>
            <a:r>
              <a:rPr lang="pt-BR" dirty="0" err="1"/>
              <a:t>Language</a:t>
            </a:r>
            <a:r>
              <a:rPr lang="pt-BR" dirty="0"/>
              <a:t> </a:t>
            </a:r>
            <a:r>
              <a:rPr lang="pt-BR" dirty="0" err="1"/>
              <a:t>Processing</a:t>
            </a:r>
            <a:r>
              <a:rPr lang="pt-BR" dirty="0"/>
              <a:t>: </a:t>
            </a:r>
            <a:r>
              <a:rPr lang="pt-BR" dirty="0" err="1"/>
              <a:t>Automatic</a:t>
            </a:r>
            <a:r>
              <a:rPr lang="pt-BR" dirty="0"/>
              <a:t> Speech </a:t>
            </a:r>
            <a:r>
              <a:rPr lang="pt-BR" dirty="0" err="1"/>
              <a:t>Recognition</a:t>
            </a:r>
            <a:r>
              <a:rPr lang="pt-BR" dirty="0"/>
              <a:t> (ASR)</a:t>
            </a:r>
          </a:p>
          <a:p>
            <a:pPr lvl="1">
              <a:buFont typeface="Wingdings" panose="05000000000000000000" pitchFamily="2" charset="2"/>
              <a:buChar char="§"/>
            </a:pPr>
            <a:r>
              <a:rPr lang="en-US" dirty="0"/>
              <a:t>Automatic Speech Recognition with Transformer</a:t>
            </a:r>
            <a:endParaRPr lang="pt-BR" dirty="0"/>
          </a:p>
          <a:p>
            <a:pPr lvl="2">
              <a:buFont typeface="Wingdings" panose="05000000000000000000" pitchFamily="2" charset="2"/>
              <a:buChar char="ü"/>
            </a:pPr>
            <a:r>
              <a:rPr lang="pt-BR" dirty="0">
                <a:hlinkClick r:id="rId4"/>
              </a:rPr>
              <a:t>https://papers.nips.cc/paper/2017/file/3f5ee243547dee91fbd053c1c4a845aa-Paper.pdf</a:t>
            </a:r>
            <a:endParaRPr lang="pt-BR" dirty="0"/>
          </a:p>
          <a:p>
            <a:pPr lvl="2">
              <a:buFont typeface="Wingdings" panose="05000000000000000000" pitchFamily="2" charset="2"/>
              <a:buChar char="ü"/>
            </a:pPr>
            <a:r>
              <a:rPr lang="pt-BR" dirty="0">
                <a:hlinkClick r:id="rId5"/>
              </a:rPr>
              <a:t>https://keras.io/examples/audio/transformer_asr/</a:t>
            </a:r>
            <a:endParaRPr lang="pt-BR" dirty="0"/>
          </a:p>
          <a:p>
            <a:pPr algn="l"/>
            <a:r>
              <a:rPr lang="pt-BR" dirty="0"/>
              <a:t>Natural </a:t>
            </a:r>
            <a:r>
              <a:rPr lang="pt-BR" dirty="0" err="1"/>
              <a:t>Language</a:t>
            </a:r>
            <a:r>
              <a:rPr lang="pt-BR" dirty="0"/>
              <a:t> </a:t>
            </a:r>
            <a:r>
              <a:rPr lang="pt-BR" dirty="0" err="1"/>
              <a:t>Processing</a:t>
            </a:r>
            <a:r>
              <a:rPr lang="pt-BR" dirty="0"/>
              <a:t>: Speech </a:t>
            </a:r>
            <a:r>
              <a:rPr lang="pt-BR" dirty="0" err="1"/>
              <a:t>Synthesis</a:t>
            </a:r>
            <a:endParaRPr lang="pt-BR" dirty="0"/>
          </a:p>
          <a:p>
            <a:pPr lvl="1">
              <a:buFont typeface="Wingdings" panose="05000000000000000000" pitchFamily="2" charset="2"/>
              <a:buChar char="§"/>
            </a:pPr>
            <a:r>
              <a:rPr lang="pt-BR" b="0" i="0" dirty="0" err="1">
                <a:effectLst/>
              </a:rPr>
              <a:t>WaveNet</a:t>
            </a:r>
            <a:r>
              <a:rPr lang="pt-BR" b="0" i="0" dirty="0">
                <a:effectLst/>
              </a:rPr>
              <a:t>: A </a:t>
            </a:r>
            <a:r>
              <a:rPr lang="pt-BR" b="0" i="0" dirty="0" err="1">
                <a:effectLst/>
              </a:rPr>
              <a:t>Generative</a:t>
            </a:r>
            <a:r>
              <a:rPr lang="pt-BR" b="0" i="0" dirty="0">
                <a:effectLst/>
              </a:rPr>
              <a:t> Model for </a:t>
            </a:r>
            <a:r>
              <a:rPr lang="pt-BR" b="0" i="0" dirty="0" err="1">
                <a:effectLst/>
              </a:rPr>
              <a:t>Raw</a:t>
            </a:r>
            <a:r>
              <a:rPr lang="pt-BR" b="0" i="0" dirty="0">
                <a:effectLst/>
              </a:rPr>
              <a:t> </a:t>
            </a:r>
            <a:r>
              <a:rPr lang="pt-BR" b="0" i="0" dirty="0" err="1">
                <a:effectLst/>
              </a:rPr>
              <a:t>Audio</a:t>
            </a:r>
            <a:endParaRPr lang="pt-BR" b="0" i="0" dirty="0">
              <a:effectLst/>
            </a:endParaRPr>
          </a:p>
          <a:p>
            <a:pPr lvl="2">
              <a:buFont typeface="Wingdings" panose="05000000000000000000" pitchFamily="2" charset="2"/>
              <a:buChar char="ü"/>
            </a:pPr>
            <a:r>
              <a:rPr lang="pt-BR" b="0" i="0" dirty="0">
                <a:effectLst/>
                <a:hlinkClick r:id="rId6">
                  <a:extLst>
                    <a:ext uri="{A12FA001-AC4F-418D-AE19-62706E023703}">
                      <ahyp:hlinkClr xmlns:ahyp="http://schemas.microsoft.com/office/drawing/2018/hyperlinkcolor" val="tx"/>
                    </a:ext>
                  </a:extLst>
                </a:hlinkClick>
              </a:rPr>
              <a:t>https://arxiv.org/abs/1609.03499</a:t>
            </a:r>
            <a:endParaRPr lang="pt-BR" b="0" i="0" dirty="0">
              <a:effectLst/>
            </a:endParaRPr>
          </a:p>
        </p:txBody>
      </p:sp>
    </p:spTree>
    <p:extLst>
      <p:ext uri="{BB962C8B-B14F-4D97-AF65-F5344CB8AC3E}">
        <p14:creationId xmlns:p14="http://schemas.microsoft.com/office/powerpoint/2010/main" val="136114958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59CF8C-A5CA-D922-15C9-90E83F41C16F}"/>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F0E0D2C5-2C7F-FF98-F6E4-6A6D35AE3301}"/>
              </a:ext>
            </a:extLst>
          </p:cNvPr>
          <p:cNvSpPr>
            <a:spLocks noGrp="1"/>
          </p:cNvSpPr>
          <p:nvPr>
            <p:ph type="title"/>
          </p:nvPr>
        </p:nvSpPr>
        <p:spPr/>
        <p:txBody>
          <a:bodyPr/>
          <a:lstStyle/>
          <a:p>
            <a:r>
              <a:rPr lang="pt-BR" dirty="0"/>
              <a:t>Temas dos seminários</a:t>
            </a:r>
          </a:p>
        </p:txBody>
      </p:sp>
      <p:sp>
        <p:nvSpPr>
          <p:cNvPr id="3" name="Espaço Reservado para Conteúdo 2">
            <a:extLst>
              <a:ext uri="{FF2B5EF4-FFF2-40B4-BE49-F238E27FC236}">
                <a16:creationId xmlns:a16="http://schemas.microsoft.com/office/drawing/2014/main" id="{164D262D-D1D5-2FFA-8E32-3025F99BDE7F}"/>
              </a:ext>
            </a:extLst>
          </p:cNvPr>
          <p:cNvSpPr>
            <a:spLocks noGrp="1"/>
          </p:cNvSpPr>
          <p:nvPr>
            <p:ph idx="1"/>
          </p:nvPr>
        </p:nvSpPr>
        <p:spPr>
          <a:xfrm>
            <a:off x="838200" y="1825625"/>
            <a:ext cx="10907486" cy="4351338"/>
          </a:xfrm>
        </p:spPr>
        <p:txBody>
          <a:bodyPr>
            <a:normAutofit/>
          </a:bodyPr>
          <a:lstStyle/>
          <a:p>
            <a:r>
              <a:rPr lang="pt-BR" dirty="0"/>
              <a:t> </a:t>
            </a:r>
            <a:r>
              <a:rPr lang="pt-BR" dirty="0" err="1"/>
              <a:t>Graph</a:t>
            </a:r>
            <a:r>
              <a:rPr lang="pt-BR" dirty="0"/>
              <a:t> Neural Networks</a:t>
            </a:r>
          </a:p>
          <a:p>
            <a:pPr lvl="1">
              <a:buFont typeface="Wingdings" panose="05000000000000000000" pitchFamily="2" charset="2"/>
              <a:buChar char="ü"/>
            </a:pPr>
            <a:r>
              <a:rPr lang="pt-BR" dirty="0">
                <a:hlinkClick r:id="rId3"/>
              </a:rPr>
              <a:t>https://arxiv.org/abs/2101.11174</a:t>
            </a:r>
            <a:endParaRPr lang="pt-BR" dirty="0"/>
          </a:p>
          <a:p>
            <a:pPr lvl="1">
              <a:buFont typeface="Wingdings" panose="05000000000000000000" pitchFamily="2" charset="2"/>
              <a:buChar char="ü"/>
            </a:pPr>
            <a:r>
              <a:rPr lang="pt-BR" dirty="0">
                <a:hlinkClick r:id="rId4"/>
              </a:rPr>
              <a:t>https://paperswithcode.com/paper/graph-neural-network-for-traffic-forecasting</a:t>
            </a:r>
            <a:endParaRPr lang="pt-BR" dirty="0"/>
          </a:p>
          <a:p>
            <a:r>
              <a:rPr lang="pt-BR" dirty="0" err="1"/>
              <a:t>Spiking</a:t>
            </a:r>
            <a:r>
              <a:rPr lang="pt-BR" dirty="0"/>
              <a:t> Neural Networks</a:t>
            </a:r>
          </a:p>
          <a:p>
            <a:pPr lvl="1">
              <a:buFont typeface="Wingdings" panose="05000000000000000000" pitchFamily="2" charset="2"/>
              <a:buChar char="ü"/>
            </a:pPr>
            <a:r>
              <a:rPr lang="pt-BR" dirty="0">
                <a:hlinkClick r:id="rId5"/>
              </a:rPr>
              <a:t>https://arxiv.org/abs/2109.12894</a:t>
            </a:r>
            <a:endParaRPr lang="pt-BR" dirty="0"/>
          </a:p>
          <a:p>
            <a:pPr lvl="1">
              <a:buFont typeface="Wingdings" panose="05000000000000000000" pitchFamily="2" charset="2"/>
              <a:buChar char="ü"/>
            </a:pPr>
            <a:r>
              <a:rPr lang="pt-BR" dirty="0">
                <a:hlinkClick r:id="rId6"/>
              </a:rPr>
              <a:t>https://analyticsindiamag.com/a-tutorial-on-spiking-neural-networks-for-beginners/</a:t>
            </a:r>
            <a:endParaRPr lang="pt-BR" dirty="0"/>
          </a:p>
          <a:p>
            <a:pPr lvl="1">
              <a:buFont typeface="Wingdings" panose="05000000000000000000" pitchFamily="2" charset="2"/>
              <a:buChar char="ü"/>
            </a:pPr>
            <a:r>
              <a:rPr lang="pt-BR" dirty="0">
                <a:hlinkClick r:id="rId7"/>
              </a:rPr>
              <a:t>https://guillaume-chevalier.com/spiking-neural-network-snn-with-pytorch-where-backpropagation-engenders-stdp-hebbian-learning/</a:t>
            </a:r>
            <a:endParaRPr lang="pt-BR" dirty="0"/>
          </a:p>
          <a:p>
            <a:pPr lvl="1">
              <a:buFont typeface="Wingdings" panose="05000000000000000000" pitchFamily="2" charset="2"/>
              <a:buChar char="ü"/>
            </a:pPr>
            <a:r>
              <a:rPr lang="pt-BR" dirty="0">
                <a:hlinkClick r:id="rId8"/>
              </a:rPr>
              <a:t>https://snntorch.readthedocs.io/en/latest/tutorials/index.html</a:t>
            </a:r>
            <a:endParaRPr lang="pt-BR" dirty="0"/>
          </a:p>
          <a:p>
            <a:pPr marL="457200" lvl="1" indent="0">
              <a:buNone/>
            </a:pPr>
            <a:endParaRPr lang="pt-BR" dirty="0"/>
          </a:p>
          <a:p>
            <a:pPr marL="457200" lvl="1" indent="0">
              <a:buNone/>
            </a:pPr>
            <a:endParaRPr lang="pt-BR" dirty="0"/>
          </a:p>
          <a:p>
            <a:pPr marL="0" indent="0">
              <a:buNone/>
            </a:pPr>
            <a:endParaRPr lang="pt-BR" dirty="0"/>
          </a:p>
          <a:p>
            <a:pPr>
              <a:buFont typeface="Wingdings" panose="05000000000000000000" pitchFamily="2" charset="2"/>
              <a:buChar char="ü"/>
            </a:pPr>
            <a:endParaRPr lang="pt-BR" dirty="0"/>
          </a:p>
          <a:p>
            <a:pPr lvl="2">
              <a:buFont typeface="Wingdings" panose="05000000000000000000" pitchFamily="2" charset="2"/>
              <a:buChar char="ü"/>
            </a:pPr>
            <a:endParaRPr lang="pt-BR" dirty="0"/>
          </a:p>
          <a:p>
            <a:pPr marL="914400" lvl="2" indent="0">
              <a:buNone/>
            </a:pPr>
            <a:endParaRPr lang="pt-BR" dirty="0"/>
          </a:p>
          <a:p>
            <a:pPr marL="914400" lvl="2" indent="0">
              <a:buNone/>
            </a:pPr>
            <a:endParaRPr lang="pt-BR" dirty="0"/>
          </a:p>
          <a:p>
            <a:pPr lvl="1"/>
            <a:endParaRPr lang="pt-BR" dirty="0"/>
          </a:p>
        </p:txBody>
      </p:sp>
    </p:spTree>
    <p:extLst>
      <p:ext uri="{BB962C8B-B14F-4D97-AF65-F5344CB8AC3E}">
        <p14:creationId xmlns:p14="http://schemas.microsoft.com/office/powerpoint/2010/main" val="114064906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59CF8C-A5CA-D922-15C9-90E83F41C16F}"/>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F0E0D2C5-2C7F-FF98-F6E4-6A6D35AE3301}"/>
              </a:ext>
            </a:extLst>
          </p:cNvPr>
          <p:cNvSpPr>
            <a:spLocks noGrp="1"/>
          </p:cNvSpPr>
          <p:nvPr>
            <p:ph type="title"/>
          </p:nvPr>
        </p:nvSpPr>
        <p:spPr/>
        <p:txBody>
          <a:bodyPr/>
          <a:lstStyle/>
          <a:p>
            <a:r>
              <a:rPr lang="pt-BR" dirty="0"/>
              <a:t>Temas dos seminários</a:t>
            </a:r>
          </a:p>
        </p:txBody>
      </p:sp>
      <p:sp>
        <p:nvSpPr>
          <p:cNvPr id="3" name="Espaço Reservado para Conteúdo 2">
            <a:extLst>
              <a:ext uri="{FF2B5EF4-FFF2-40B4-BE49-F238E27FC236}">
                <a16:creationId xmlns:a16="http://schemas.microsoft.com/office/drawing/2014/main" id="{164D262D-D1D5-2FFA-8E32-3025F99BDE7F}"/>
              </a:ext>
            </a:extLst>
          </p:cNvPr>
          <p:cNvSpPr>
            <a:spLocks noGrp="1"/>
          </p:cNvSpPr>
          <p:nvPr>
            <p:ph idx="1"/>
          </p:nvPr>
        </p:nvSpPr>
        <p:spPr>
          <a:xfrm>
            <a:off x="838200" y="1825624"/>
            <a:ext cx="10907486" cy="5032375"/>
          </a:xfrm>
        </p:spPr>
        <p:txBody>
          <a:bodyPr>
            <a:normAutofit lnSpcReduction="10000"/>
          </a:bodyPr>
          <a:lstStyle/>
          <a:p>
            <a:r>
              <a:rPr lang="pt-BR" dirty="0"/>
              <a:t> Adversarial </a:t>
            </a:r>
            <a:r>
              <a:rPr lang="pt-BR" dirty="0" err="1"/>
              <a:t>Attacks</a:t>
            </a:r>
            <a:endParaRPr lang="pt-BR" dirty="0"/>
          </a:p>
          <a:p>
            <a:pPr lvl="1">
              <a:buFont typeface="Wingdings" panose="05000000000000000000" pitchFamily="2" charset="2"/>
              <a:buChar char="ü"/>
            </a:pPr>
            <a:r>
              <a:rPr lang="pt-BR" dirty="0">
                <a:hlinkClick r:id="rId2"/>
              </a:rPr>
              <a:t>https://arxiv.org/abs/1706.06083</a:t>
            </a:r>
            <a:endParaRPr lang="pt-BR" dirty="0"/>
          </a:p>
          <a:p>
            <a:pPr lvl="1">
              <a:buFont typeface="Wingdings" panose="05000000000000000000" pitchFamily="2" charset="2"/>
              <a:buChar char="ü"/>
            </a:pPr>
            <a:r>
              <a:rPr lang="pt-BR" dirty="0">
                <a:hlinkClick r:id="rId3"/>
              </a:rPr>
              <a:t>https://paperswithcode.com/paper/towards-deep-learning-models-resistant-to</a:t>
            </a:r>
            <a:endParaRPr lang="pt-BR" dirty="0"/>
          </a:p>
          <a:p>
            <a:r>
              <a:rPr lang="pt-BR" dirty="0" err="1"/>
              <a:t>Kolmogorov</a:t>
            </a:r>
            <a:r>
              <a:rPr lang="pt-BR" dirty="0"/>
              <a:t>-Arnold Networks (</a:t>
            </a:r>
            <a:r>
              <a:rPr lang="pt-BR" dirty="0" err="1"/>
              <a:t>KANs</a:t>
            </a:r>
            <a:r>
              <a:rPr lang="pt-BR" dirty="0"/>
              <a:t>)</a:t>
            </a:r>
          </a:p>
          <a:p>
            <a:pPr lvl="1">
              <a:buFont typeface="Wingdings" panose="05000000000000000000" pitchFamily="2" charset="2"/>
              <a:buChar char="ü"/>
            </a:pPr>
            <a:r>
              <a:rPr lang="pt-BR" dirty="0">
                <a:hlinkClick r:id="rId4"/>
              </a:rPr>
              <a:t>https://arxiv.org/abs/2404.19756</a:t>
            </a:r>
            <a:endParaRPr lang="pt-BR" dirty="0"/>
          </a:p>
          <a:p>
            <a:pPr lvl="1">
              <a:buFont typeface="Wingdings" panose="05000000000000000000" pitchFamily="2" charset="2"/>
              <a:buChar char="ü"/>
            </a:pPr>
            <a:r>
              <a:rPr lang="pt-BR" dirty="0">
                <a:hlinkClick r:id="rId5"/>
              </a:rPr>
              <a:t>https://github.com/KindXiaoming/pykan?tab=readme-ov-file</a:t>
            </a:r>
            <a:endParaRPr lang="pt-BR" dirty="0"/>
          </a:p>
          <a:p>
            <a:r>
              <a:rPr lang="en-US" dirty="0" err="1"/>
              <a:t>DiffMOT</a:t>
            </a:r>
            <a:r>
              <a:rPr lang="en-US" dirty="0"/>
              <a:t>: A Real-time Diffusion-based Multiple Object Tracker with Non-linear Prediction</a:t>
            </a:r>
          </a:p>
          <a:p>
            <a:pPr lvl="1">
              <a:buFont typeface="Wingdings" panose="05000000000000000000" pitchFamily="2" charset="2"/>
              <a:buChar char="ü"/>
            </a:pPr>
            <a:r>
              <a:rPr lang="pt-BR" dirty="0">
                <a:hlinkClick r:id="rId6"/>
              </a:rPr>
              <a:t>https://arxiv.org/abs/2403.02075</a:t>
            </a:r>
            <a:endParaRPr lang="pt-BR" dirty="0"/>
          </a:p>
          <a:p>
            <a:pPr lvl="1">
              <a:buFont typeface="Wingdings" panose="05000000000000000000" pitchFamily="2" charset="2"/>
              <a:buChar char="ü"/>
            </a:pPr>
            <a:r>
              <a:rPr lang="pt-BR" dirty="0">
                <a:hlinkClick r:id="rId7"/>
              </a:rPr>
              <a:t>https://github.com/Kroery/DiffMOT</a:t>
            </a:r>
            <a:endParaRPr lang="pt-BR" dirty="0"/>
          </a:p>
          <a:p>
            <a:pPr algn="l"/>
            <a:r>
              <a:rPr lang="pt-BR" dirty="0" err="1"/>
              <a:t>Liquid</a:t>
            </a:r>
            <a:r>
              <a:rPr lang="pt-BR" dirty="0"/>
              <a:t> Time-</a:t>
            </a:r>
            <a:r>
              <a:rPr lang="pt-BR" dirty="0" err="1"/>
              <a:t>constant</a:t>
            </a:r>
            <a:r>
              <a:rPr lang="pt-BR" dirty="0"/>
              <a:t> Networks</a:t>
            </a:r>
            <a:endParaRPr lang="pt-BR" dirty="0">
              <a:hlinkClick r:id="rId8"/>
            </a:endParaRPr>
          </a:p>
          <a:p>
            <a:pPr lvl="1">
              <a:buFont typeface="Wingdings" panose="05000000000000000000" pitchFamily="2" charset="2"/>
              <a:buChar char="ü"/>
            </a:pPr>
            <a:r>
              <a:rPr lang="pt-BR" dirty="0">
                <a:hlinkClick r:id="rId8"/>
              </a:rPr>
              <a:t>https://arxiv.org/abs/2006.04439</a:t>
            </a:r>
            <a:endParaRPr lang="pt-BR" dirty="0"/>
          </a:p>
          <a:p>
            <a:pPr lvl="1">
              <a:buFont typeface="Wingdings" panose="05000000000000000000" pitchFamily="2" charset="2"/>
              <a:buChar char="ü"/>
            </a:pPr>
            <a:r>
              <a:rPr lang="pt-BR" dirty="0">
                <a:hlinkClick r:id="rId9"/>
              </a:rPr>
              <a:t>https://github.com/raminmh/liquid_time_constant_networks</a:t>
            </a:r>
            <a:endParaRPr lang="pt-BR" dirty="0"/>
          </a:p>
          <a:p>
            <a:pPr lvl="1"/>
            <a:endParaRPr lang="pt-BR" dirty="0"/>
          </a:p>
        </p:txBody>
      </p:sp>
    </p:spTree>
    <p:extLst>
      <p:ext uri="{BB962C8B-B14F-4D97-AF65-F5344CB8AC3E}">
        <p14:creationId xmlns:p14="http://schemas.microsoft.com/office/powerpoint/2010/main" val="53057764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59CF8C-A5CA-D922-15C9-90E83F41C16F}"/>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F0E0D2C5-2C7F-FF98-F6E4-6A6D35AE3301}"/>
              </a:ext>
            </a:extLst>
          </p:cNvPr>
          <p:cNvSpPr>
            <a:spLocks noGrp="1"/>
          </p:cNvSpPr>
          <p:nvPr>
            <p:ph type="title"/>
          </p:nvPr>
        </p:nvSpPr>
        <p:spPr/>
        <p:txBody>
          <a:bodyPr/>
          <a:lstStyle/>
          <a:p>
            <a:r>
              <a:rPr lang="pt-BR" dirty="0"/>
              <a:t>Temas dos seminários</a:t>
            </a:r>
          </a:p>
        </p:txBody>
      </p:sp>
      <p:sp>
        <p:nvSpPr>
          <p:cNvPr id="3" name="Espaço Reservado para Conteúdo 2">
            <a:extLst>
              <a:ext uri="{FF2B5EF4-FFF2-40B4-BE49-F238E27FC236}">
                <a16:creationId xmlns:a16="http://schemas.microsoft.com/office/drawing/2014/main" id="{164D262D-D1D5-2FFA-8E32-3025F99BDE7F}"/>
              </a:ext>
            </a:extLst>
          </p:cNvPr>
          <p:cNvSpPr>
            <a:spLocks noGrp="1"/>
          </p:cNvSpPr>
          <p:nvPr>
            <p:ph idx="1"/>
          </p:nvPr>
        </p:nvSpPr>
        <p:spPr>
          <a:xfrm>
            <a:off x="838200" y="1825625"/>
            <a:ext cx="10907486" cy="4351338"/>
          </a:xfrm>
        </p:spPr>
        <p:txBody>
          <a:bodyPr>
            <a:normAutofit/>
          </a:bodyPr>
          <a:lstStyle/>
          <a:p>
            <a:r>
              <a:rPr lang="pt-BR" dirty="0"/>
              <a:t>Receitas para melhoria do desempenho de modelos</a:t>
            </a:r>
          </a:p>
          <a:p>
            <a:pPr lvl="1">
              <a:buFont typeface="Wingdings" panose="05000000000000000000" pitchFamily="2" charset="2"/>
              <a:buChar char="§"/>
            </a:pPr>
            <a:r>
              <a:rPr lang="pt-BR" i="0" dirty="0" err="1">
                <a:solidFill>
                  <a:srgbClr val="212529"/>
                </a:solidFill>
                <a:effectLst/>
              </a:rPr>
              <a:t>Knowledge</a:t>
            </a:r>
            <a:r>
              <a:rPr lang="pt-BR" i="0" dirty="0">
                <a:solidFill>
                  <a:srgbClr val="212529"/>
                </a:solidFill>
                <a:effectLst/>
              </a:rPr>
              <a:t> </a:t>
            </a:r>
            <a:r>
              <a:rPr lang="pt-BR" i="0" dirty="0" err="1">
                <a:solidFill>
                  <a:srgbClr val="212529"/>
                </a:solidFill>
                <a:effectLst/>
              </a:rPr>
              <a:t>Distillation</a:t>
            </a:r>
            <a:endParaRPr lang="pt-BR" i="0" dirty="0">
              <a:solidFill>
                <a:srgbClr val="212529"/>
              </a:solidFill>
              <a:effectLst/>
            </a:endParaRPr>
          </a:p>
          <a:p>
            <a:pPr lvl="2">
              <a:buFont typeface="Wingdings" panose="05000000000000000000" pitchFamily="2" charset="2"/>
              <a:buChar char="ü"/>
            </a:pPr>
            <a:r>
              <a:rPr lang="pt-BR" i="0" dirty="0">
                <a:solidFill>
                  <a:srgbClr val="212529"/>
                </a:solidFill>
                <a:effectLst/>
                <a:hlinkClick r:id="rId3"/>
              </a:rPr>
              <a:t>https://arxiv.org/abs/1503.02531</a:t>
            </a:r>
            <a:endParaRPr lang="pt-BR" dirty="0">
              <a:solidFill>
                <a:srgbClr val="212529"/>
              </a:solidFill>
            </a:endParaRPr>
          </a:p>
          <a:p>
            <a:pPr lvl="2">
              <a:buFont typeface="Wingdings" panose="05000000000000000000" pitchFamily="2" charset="2"/>
              <a:buChar char="ü"/>
            </a:pPr>
            <a:r>
              <a:rPr lang="pt-BR" i="0" dirty="0">
                <a:solidFill>
                  <a:srgbClr val="212529"/>
                </a:solidFill>
                <a:effectLst/>
                <a:hlinkClick r:id="rId4"/>
              </a:rPr>
              <a:t>https://keras.io/examples/vision/knowledge_distillation/</a:t>
            </a:r>
            <a:endParaRPr lang="pt-BR" i="0" dirty="0">
              <a:solidFill>
                <a:srgbClr val="212529"/>
              </a:solidFill>
              <a:effectLst/>
            </a:endParaRPr>
          </a:p>
          <a:p>
            <a:pPr lvl="1">
              <a:buFont typeface="Wingdings" panose="05000000000000000000" pitchFamily="2" charset="2"/>
              <a:buChar char="§"/>
            </a:pPr>
            <a:r>
              <a:rPr lang="pt-BR" dirty="0" err="1"/>
              <a:t>Gradient</a:t>
            </a:r>
            <a:r>
              <a:rPr lang="pt-BR" dirty="0"/>
              <a:t> </a:t>
            </a:r>
            <a:r>
              <a:rPr lang="pt-BR" dirty="0" err="1"/>
              <a:t>Centralization</a:t>
            </a:r>
            <a:endParaRPr lang="pt-BR" dirty="0"/>
          </a:p>
          <a:p>
            <a:pPr lvl="2">
              <a:buFont typeface="Wingdings" panose="05000000000000000000" pitchFamily="2" charset="2"/>
              <a:buChar char="ü"/>
            </a:pPr>
            <a:r>
              <a:rPr lang="pt-BR" dirty="0">
                <a:hlinkClick r:id="rId5"/>
              </a:rPr>
              <a:t>https://arxiv.org/abs/2004.01461</a:t>
            </a:r>
            <a:endParaRPr lang="pt-BR" dirty="0"/>
          </a:p>
          <a:p>
            <a:pPr lvl="2">
              <a:buFont typeface="Wingdings" panose="05000000000000000000" pitchFamily="2" charset="2"/>
              <a:buChar char="ü"/>
            </a:pPr>
            <a:r>
              <a:rPr lang="pt-BR" dirty="0">
                <a:hlinkClick r:id="rId6"/>
              </a:rPr>
              <a:t>https://keras.io/examples/vision/gradient_centralization/</a:t>
            </a:r>
            <a:endParaRPr lang="pt-BR" dirty="0"/>
          </a:p>
          <a:p>
            <a:pPr lvl="1">
              <a:buFont typeface="Wingdings" panose="05000000000000000000" pitchFamily="2" charset="2"/>
              <a:buChar char="§"/>
            </a:pPr>
            <a:r>
              <a:rPr lang="en-US" dirty="0" err="1">
                <a:effectLst/>
              </a:rPr>
              <a:t>VeLO</a:t>
            </a:r>
            <a:r>
              <a:rPr lang="en-US" dirty="0">
                <a:effectLst/>
              </a:rPr>
              <a:t>: Training Versatile Learned Optimizers by Scaling Up</a:t>
            </a:r>
          </a:p>
          <a:p>
            <a:pPr lvl="2">
              <a:buFont typeface="Wingdings" panose="05000000000000000000" pitchFamily="2" charset="2"/>
              <a:buChar char="ü"/>
            </a:pPr>
            <a:r>
              <a:rPr lang="pt-BR" dirty="0">
                <a:hlinkClick r:id="rId7"/>
              </a:rPr>
              <a:t>https://arxiv.org/pdf/2211.09760</a:t>
            </a:r>
            <a:endParaRPr lang="pt-BR" dirty="0"/>
          </a:p>
          <a:p>
            <a:pPr lvl="2">
              <a:buFont typeface="Wingdings" panose="05000000000000000000" pitchFamily="2" charset="2"/>
              <a:buChar char="ü"/>
            </a:pPr>
            <a:r>
              <a:rPr lang="pt-BR" dirty="0">
                <a:hlinkClick r:id="rId8"/>
              </a:rPr>
              <a:t>https://velo-code.github.io/</a:t>
            </a:r>
            <a:endParaRPr lang="pt-BR" dirty="0"/>
          </a:p>
          <a:p>
            <a:pPr marL="914400" lvl="2" indent="0">
              <a:buNone/>
            </a:pPr>
            <a:br>
              <a:rPr lang="pt-BR" dirty="0"/>
            </a:br>
            <a:endParaRPr lang="pt-BR" dirty="0"/>
          </a:p>
          <a:p>
            <a:endParaRPr lang="pt-BR" dirty="0"/>
          </a:p>
        </p:txBody>
      </p:sp>
    </p:spTree>
    <p:extLst>
      <p:ext uri="{BB962C8B-B14F-4D97-AF65-F5344CB8AC3E}">
        <p14:creationId xmlns:p14="http://schemas.microsoft.com/office/powerpoint/2010/main" val="709232205"/>
      </p:ext>
    </p:extLst>
  </p:cSld>
  <p:clrMapOvr>
    <a:masterClrMapping/>
  </p:clrMapOvr>
</p:sld>
</file>

<file path=ppt/theme/theme1.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8598</TotalTime>
  <Words>2358</Words>
  <Application>Microsoft Office PowerPoint</Application>
  <PresentationFormat>Widescreen</PresentationFormat>
  <Paragraphs>250</Paragraphs>
  <Slides>26</Slides>
  <Notes>7</Notes>
  <HiddenSlides>0</HiddenSlides>
  <MMClips>0</MMClips>
  <ScaleCrop>false</ScaleCrop>
  <HeadingPairs>
    <vt:vector size="6" baseType="variant">
      <vt:variant>
        <vt:lpstr>Fontes usadas</vt:lpstr>
      </vt:variant>
      <vt:variant>
        <vt:i4>5</vt:i4>
      </vt:variant>
      <vt:variant>
        <vt:lpstr>Tema</vt:lpstr>
      </vt:variant>
      <vt:variant>
        <vt:i4>1</vt:i4>
      </vt:variant>
      <vt:variant>
        <vt:lpstr>Títulos de slides</vt:lpstr>
      </vt:variant>
      <vt:variant>
        <vt:i4>26</vt:i4>
      </vt:variant>
    </vt:vector>
  </HeadingPairs>
  <TitlesOfParts>
    <vt:vector size="32" baseType="lpstr">
      <vt:lpstr>Arial</vt:lpstr>
      <vt:lpstr>Calibri</vt:lpstr>
      <vt:lpstr>Calibri Light</vt:lpstr>
      <vt:lpstr>Lato</vt:lpstr>
      <vt:lpstr>Wingdings</vt:lpstr>
      <vt:lpstr>Tema do Office</vt:lpstr>
      <vt:lpstr>TP558 - Tópicos avançados em Machine Learning: Introdução ao curso</vt:lpstr>
      <vt:lpstr>Sobre o curso</vt:lpstr>
      <vt:lpstr>Dinâmica do curso</vt:lpstr>
      <vt:lpstr>Objetivos do curso</vt:lpstr>
      <vt:lpstr>Pré-requisitos</vt:lpstr>
      <vt:lpstr>Repositório</vt:lpstr>
      <vt:lpstr>Avaliação</vt:lpstr>
      <vt:lpstr>Instruções sobre os seminários e projeto final</vt:lpstr>
      <vt:lpstr>Possíveis temas para os seminários</vt:lpstr>
      <vt:lpstr>Referências</vt:lpstr>
      <vt:lpstr>Avisos</vt:lpstr>
      <vt:lpstr>Apresentação do PowerPoint</vt:lpstr>
      <vt:lpstr>Apresentação do PowerPoint</vt:lpstr>
      <vt:lpstr>Temas dos seminários</vt:lpstr>
      <vt:lpstr>Temas dos seminários</vt:lpstr>
      <vt:lpstr>Temas dos seminários</vt:lpstr>
      <vt:lpstr>Temas dos seminários</vt:lpstr>
      <vt:lpstr>Temas dos seminários</vt:lpstr>
      <vt:lpstr>Temas dos seminários</vt:lpstr>
      <vt:lpstr>Temas dos seminários</vt:lpstr>
      <vt:lpstr>Temas dos seminários</vt:lpstr>
      <vt:lpstr>Temas dos seminários</vt:lpstr>
      <vt:lpstr>Temas dos seminários</vt:lpstr>
      <vt:lpstr>Temas dos seminários</vt:lpstr>
      <vt:lpstr>Temas dos seminários</vt:lpstr>
      <vt:lpstr>Temas dos seminários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TP555 - Inteligência Artificial e Machine Learning</dc:title>
  <dc:creator>Felipe Augusto Pereira de Figueiredo</dc:creator>
  <cp:lastModifiedBy>Felipe Augusto Pereira de Figueiredo</cp:lastModifiedBy>
  <cp:revision>1784</cp:revision>
  <dcterms:created xsi:type="dcterms:W3CDTF">2020-01-20T13:50:05Z</dcterms:created>
  <dcterms:modified xsi:type="dcterms:W3CDTF">2026-08-02T20:56:30Z</dcterms:modified>
</cp:coreProperties>
</file>